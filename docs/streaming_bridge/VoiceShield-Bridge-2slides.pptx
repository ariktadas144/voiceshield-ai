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1430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1E1E1E"/>
                </a:solidFill>
                <a:latin typeface="Arial"/>
              </a:rPr>
              <a:t>Streaming Middleware Bridge (gRPC)</a:t>
            </a:r>
            <a:r>
              <a:rPr sz="2600" b="0" i="0">
                <a:solidFill>
                  <a:srgbClr val="1971C2"/>
                </a:solidFill>
                <a:latin typeface="Arial"/>
              </a:rPr>
              <a:t>   —   Component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03504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5C5650"/>
                </a:solidFill>
                <a:latin typeface="Arial"/>
              </a:rPr>
              <a:t>The only stateful, real-time component: turns live forked call audio into scored analysis windows inside a 500 ms budget, for ~1,200 concurrent calls — on a stream that cannot be paused.</a:t>
            </a:r>
          </a:p>
        </p:txBody>
      </p:sp>
      <p:pic>
        <p:nvPicPr>
          <p:cNvPr id="4" name="Picture 3" descr="A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914400"/>
            <a:ext cx="9326880" cy="1943100"/>
          </a:xfrm>
          <a:prstGeom prst="rect">
            <a:avLst/>
          </a:prstGeom>
        </p:spPr>
      </p:pic>
      <p:pic>
        <p:nvPicPr>
          <p:cNvPr id="5" name="Picture 4" descr="B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608" y="2926080"/>
            <a:ext cx="9326880" cy="284469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" y="5888736"/>
            <a:ext cx="2542032" cy="676656"/>
          </a:xfrm>
          <a:prstGeom prst="roundRect">
            <a:avLst>
              <a:gd name="adj" fmla="val 6000"/>
            </a:avLst>
          </a:prstGeom>
          <a:solidFill>
            <a:srgbClr val="E7F2FC"/>
          </a:solidFill>
          <a:ln w="22225">
            <a:solidFill>
              <a:srgbClr val="197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5961888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1971C2"/>
                </a:solidFill>
                <a:latin typeface="Arial"/>
              </a:rPr>
              <a:t>2.0 s / 100 ms</a:t>
            </a:r>
          </a:p>
          <a:p>
            <a:r>
              <a:rPr sz="900" b="0" i="0">
                <a:solidFill>
                  <a:srgbClr val="5C5650"/>
                </a:solidFill>
                <a:latin typeface="Arial"/>
              </a:rPr>
              <a:t>window &amp; hop → 10 scores/sec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888736"/>
            <a:ext cx="2542032" cy="676656"/>
          </a:xfrm>
          <a:prstGeom prst="roundRect">
            <a:avLst>
              <a:gd name="adj" fmla="val 6000"/>
            </a:avLst>
          </a:prstGeom>
          <a:solidFill>
            <a:srgbClr val="F8EFFB"/>
          </a:solidFill>
          <a:ln w="22225">
            <a:solidFill>
              <a:srgbClr val="9C36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02736" y="5961888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9C36B5"/>
                </a:solidFill>
                <a:latin typeface="Arial"/>
              </a:rPr>
              <a:t>500 ms</a:t>
            </a:r>
          </a:p>
          <a:p>
            <a:r>
              <a:rPr sz="900" b="0" i="0">
                <a:solidFill>
                  <a:srgbClr val="5C5650"/>
                </a:solidFill>
                <a:latin typeface="Arial"/>
              </a:rPr>
              <a:t>end-to-end SLA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5888736"/>
            <a:ext cx="2542032" cy="676656"/>
          </a:xfrm>
          <a:prstGeom prst="roundRect">
            <a:avLst>
              <a:gd name="adj" fmla="val 6000"/>
            </a:avLst>
          </a:prstGeom>
          <a:solidFill>
            <a:srgbClr val="EEFBF1"/>
          </a:solidFill>
          <a:ln w="2222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91072" y="5961888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2F9E44"/>
                </a:solidFill>
                <a:latin typeface="Arial"/>
              </a:rPr>
              <a:t>1,200</a:t>
            </a:r>
          </a:p>
          <a:p>
            <a:r>
              <a:rPr sz="900" b="0" i="0">
                <a:solidFill>
                  <a:srgbClr val="5C5650"/>
                </a:solidFill>
                <a:latin typeface="Arial"/>
              </a:rPr>
              <a:t>concurrent calls per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51392" y="5888736"/>
            <a:ext cx="2542032" cy="676656"/>
          </a:xfrm>
          <a:prstGeom prst="roundRect">
            <a:avLst>
              <a:gd name="adj" fmla="val 6000"/>
            </a:avLst>
          </a:prstGeom>
          <a:solidFill>
            <a:srgbClr val="FFF0EF"/>
          </a:solidFill>
          <a:ln w="22225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79408" y="5961888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E03131"/>
                </a:solidFill>
                <a:latin typeface="Arial"/>
              </a:rPr>
              <a:t>71</a:t>
            </a:r>
          </a:p>
          <a:p>
            <a:r>
              <a:rPr sz="900" b="0" i="0">
                <a:solidFill>
                  <a:srgbClr val="5C5650"/>
                </a:solidFill>
                <a:latin typeface="Arial"/>
              </a:rPr>
              <a:t>edge cases specified &amp; tested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6601968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>
                <a:solidFill>
                  <a:srgbClr val="E03131"/>
                </a:solidFill>
                <a:latin typeface="Arial"/>
              </a:rPr>
              <a:t>CORE CONSTRAINT:  </a:t>
            </a:r>
            <a:r>
              <a:rPr sz="950" b="0" i="0">
                <a:solidFill>
                  <a:srgbClr val="5C5650"/>
                </a:solidFill>
                <a:latin typeface="Arial"/>
              </a:rPr>
              <a:t>every other service in the system can tell its upstream to slow down. A phone call cannot. Every design decision follows from that.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11430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 i="0">
                <a:solidFill>
                  <a:srgbClr val="1E1E1E"/>
                </a:solidFill>
                <a:latin typeface="Arial"/>
              </a:rPr>
              <a:t>Latency, Failure Handling &amp; the Edge Cases That Fail Silently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603504"/>
            <a:ext cx="11430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50" b="0" i="0">
                <a:solidFill>
                  <a:srgbClr val="5C5650"/>
                </a:solidFill>
                <a:latin typeface="Arial"/>
              </a:rPr>
              <a:t>Most failures are loud, and therefore cheap. The expensive ones produce plausible-looking numbers that are wrong.</a:t>
            </a:r>
          </a:p>
        </p:txBody>
      </p:sp>
      <p:pic>
        <p:nvPicPr>
          <p:cNvPr id="4" name="Picture 3" descr="C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896112"/>
            <a:ext cx="5760720" cy="1901038"/>
          </a:xfrm>
          <a:prstGeom prst="rect">
            <a:avLst/>
          </a:prstGeom>
        </p:spPr>
      </p:pic>
      <p:pic>
        <p:nvPicPr>
          <p:cNvPr id="5" name="Picture 4" descr="D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896112"/>
            <a:ext cx="5760720" cy="1901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2907792"/>
            <a:ext cx="11430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 i="0">
                <a:solidFill>
                  <a:srgbClr val="E03131"/>
                </a:solidFill>
                <a:latin typeface="Arial"/>
              </a:rPr>
              <a:t>THE THREE SILENT FAILURES</a:t>
            </a:r>
            <a:r>
              <a:rPr sz="1000" b="0" i="0">
                <a:solidFill>
                  <a:srgbClr val="5C5650"/>
                </a:solidFill>
                <a:latin typeface="Arial"/>
              </a:rPr>
              <a:t>   — no exception, no error, just quietly wrong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3163824"/>
            <a:ext cx="3639312" cy="1993392"/>
          </a:xfrm>
          <a:prstGeom prst="roundRect">
            <a:avLst>
              <a:gd name="adj" fmla="val 6000"/>
            </a:avLst>
          </a:prstGeom>
          <a:solidFill>
            <a:srgbClr val="FFF0EF"/>
          </a:solidFill>
          <a:ln w="25400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" y="3264408"/>
            <a:ext cx="3346704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E03131"/>
                </a:solidFill>
                <a:latin typeface="Arial"/>
              </a:rPr>
              <a:t>AU-04</a:t>
            </a:r>
            <a:r>
              <a:rPr sz="800" b="0" i="0">
                <a:solidFill>
                  <a:srgbClr val="5C5650"/>
                </a:solidFill>
                <a:latin typeface="Arial"/>
              </a:rPr>
              <a:t>   ·   AUDIO</a:t>
            </a:r>
          </a:p>
          <a:p>
            <a:pPr>
              <a:spcBef>
                <a:spcPts val="200"/>
              </a:spcBef>
            </a:pPr>
            <a:r>
              <a:rPr sz="1200" b="1" i="0">
                <a:solidFill>
                  <a:srgbClr val="1E1E1E"/>
                </a:solidFill>
                <a:latin typeface="Arial"/>
              </a:rPr>
              <a:t>Averaging a dual-leg fork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1E1E1E"/>
                </a:solidFill>
                <a:latin typeface="Arial"/>
              </a:rPr>
              <a:t>The gateway forks caller and callee as two channels. Averaging them mixes two speakers into one signal, destroying both the deepfake and the speaker-verification signal.</a:t>
            </a:r>
          </a:p>
          <a:p>
            <a:pPr>
              <a:spcBef>
                <a:spcPts val="400"/>
              </a:spcBef>
            </a:pPr>
            <a:r>
              <a:rPr sz="850" b="1" i="0">
                <a:solidFill>
                  <a:srgbClr val="E03131"/>
                </a:solidFill>
                <a:latin typeface="Arial"/>
              </a:rPr>
              <a:t>FIX: mono mandatory. Two legs = two sessions. Reject 2-channel input outright.</a:t>
            </a:r>
          </a:p>
          <a:p>
            <a:pPr>
              <a:spcBef>
                <a:spcPts val="300"/>
              </a:spcBef>
            </a:pPr>
            <a:r>
              <a:rPr sz="800" b="0" i="1">
                <a:solidFill>
                  <a:srgbClr val="5C5650"/>
                </a:solidFill>
                <a:latin typeface="Arial"/>
              </a:rPr>
              <a:t>TEST: assert channels==1 at the ingress adapter; a 2-channel fixture must raise, not average.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3163824"/>
            <a:ext cx="3639312" cy="1993392"/>
          </a:xfrm>
          <a:prstGeom prst="roundRect">
            <a:avLst>
              <a:gd name="adj" fmla="val 6000"/>
            </a:avLst>
          </a:prstGeom>
          <a:solidFill>
            <a:srgbClr val="FFF0EF"/>
          </a:solidFill>
          <a:ln w="25400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07408" y="3264408"/>
            <a:ext cx="3346704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E03131"/>
                </a:solidFill>
                <a:latin typeface="Arial"/>
              </a:rPr>
              <a:t>AU-08</a:t>
            </a:r>
            <a:r>
              <a:rPr sz="800" b="0" i="0">
                <a:solidFill>
                  <a:srgbClr val="5C5650"/>
                </a:solidFill>
                <a:latin typeface="Arial"/>
              </a:rPr>
              <a:t>   ·   AUDIO</a:t>
            </a:r>
          </a:p>
          <a:p>
            <a:pPr>
              <a:spcBef>
                <a:spcPts val="200"/>
              </a:spcBef>
            </a:pPr>
            <a:r>
              <a:rPr sz="1200" b="1" i="0">
                <a:solidFill>
                  <a:srgbClr val="1E1E1E"/>
                </a:solidFill>
                <a:latin typeface="Arial"/>
              </a:rPr>
              <a:t>Packet-loss concealment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1E1E1E"/>
                </a:solidFill>
                <a:latin typeface="Arial"/>
              </a:rPr>
              <a:t>On a bad line the gateway invents audio to cover lost packets. That audio is literally synthetic — so the detector flags a genuine caller as a deepfake.</a:t>
            </a:r>
          </a:p>
          <a:p>
            <a:pPr>
              <a:spcBef>
                <a:spcPts val="400"/>
              </a:spcBef>
            </a:pPr>
            <a:r>
              <a:rPr sz="850" b="1" i="0">
                <a:solidFill>
                  <a:srgbClr val="E03131"/>
                </a:solidFill>
                <a:latin typeface="Arial"/>
              </a:rPr>
              <a:t>FIX: gateway sets concealed=true; windows &gt;15% concealed are skipped or down-weighted.</a:t>
            </a:r>
          </a:p>
          <a:p>
            <a:pPr>
              <a:spcBef>
                <a:spcPts val="300"/>
              </a:spcBef>
            </a:pPr>
            <a:r>
              <a:rPr sz="800" b="0" i="1">
                <a:solidFill>
                  <a:srgbClr val="5C5650"/>
                </a:solidFill>
                <a:latin typeface="Arial"/>
              </a:rPr>
              <a:t>TEST: replay at 30% packet loss with PLC on — false-positive rate must not 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163824"/>
            <a:ext cx="3639312" cy="1993392"/>
          </a:xfrm>
          <a:prstGeom prst="roundRect">
            <a:avLst>
              <a:gd name="adj" fmla="val 6000"/>
            </a:avLst>
          </a:prstGeom>
          <a:solidFill>
            <a:srgbClr val="FFF0EF"/>
          </a:solidFill>
          <a:ln w="25400">
            <a:solidFill>
              <a:srgbClr val="E031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4464" y="3264408"/>
            <a:ext cx="3346704" cy="1865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 b="1" i="0">
                <a:solidFill>
                  <a:srgbClr val="E03131"/>
                </a:solidFill>
                <a:latin typeface="Arial"/>
              </a:rPr>
              <a:t>SS-06</a:t>
            </a:r>
            <a:r>
              <a:rPr sz="800" b="0" i="0">
                <a:solidFill>
                  <a:srgbClr val="5C5650"/>
                </a:solidFill>
                <a:latin typeface="Arial"/>
              </a:rPr>
              <a:t>   ·   SESSION</a:t>
            </a:r>
          </a:p>
          <a:p>
            <a:pPr>
              <a:spcBef>
                <a:spcPts val="200"/>
              </a:spcBef>
            </a:pPr>
            <a:r>
              <a:rPr sz="1200" b="1" i="0">
                <a:solidFill>
                  <a:srgbClr val="1E1E1E"/>
                </a:solidFill>
                <a:latin typeface="Arial"/>
              </a:rPr>
              <a:t>Missing speaker enrolment</a:t>
            </a:r>
          </a:p>
          <a:p>
            <a:pPr>
              <a:spcBef>
                <a:spcPts val="300"/>
              </a:spcBef>
            </a:pPr>
            <a:r>
              <a:rPr sz="900" b="0" i="0">
                <a:solidFill>
                  <a:srgbClr val="1E1E1E"/>
                </a:solidFill>
                <a:latin typeface="Arial"/>
              </a:rPr>
              <a:t>No reference voiceprint returns similarity 0.0, which fusion reads as 'total mismatch' — fabricating fraud signal for every non-enrolled caller.</a:t>
            </a:r>
          </a:p>
          <a:p>
            <a:pPr>
              <a:spcBef>
                <a:spcPts val="400"/>
              </a:spcBef>
            </a:pPr>
            <a:r>
              <a:rPr sz="850" b="1" i="0">
                <a:solidFill>
                  <a:srgbClr val="E03131"/>
                </a:solidFill>
                <a:latin typeface="Arial"/>
              </a:rPr>
              <a:t>FIX: emit null + UNAVAILABLE. Risk engine renormalises over remaining signals.</a:t>
            </a:r>
          </a:p>
          <a:p>
            <a:pPr>
              <a:spcBef>
                <a:spcPts val="300"/>
              </a:spcBef>
            </a:pPr>
            <a:r>
              <a:rPr sz="800" b="0" i="1">
                <a:solidFill>
                  <a:srgbClr val="5C5650"/>
                </a:solidFill>
                <a:latin typeface="Arial"/>
              </a:rPr>
              <a:t>TEST: unenrolled caller must not raise the risk score above an enrolled-match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5303520"/>
            <a:ext cx="7059168" cy="1298448"/>
          </a:xfrm>
          <a:prstGeom prst="roundRect">
            <a:avLst>
              <a:gd name="adj" fmla="val 6000"/>
            </a:avLst>
          </a:prstGeom>
          <a:solidFill>
            <a:srgbClr val="E7F2FC"/>
          </a:solidFill>
          <a:ln w="22225">
            <a:solidFill>
              <a:srgbClr val="197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0352" y="5413248"/>
            <a:ext cx="6803136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>
                <a:solidFill>
                  <a:srgbClr val="1971C2"/>
                </a:solidFill>
                <a:latin typeface="Arial"/>
              </a:rPr>
              <a:t>71 EDGE CASES ACROSS 8 CATEGORIES</a:t>
            </a:r>
          </a:p>
          <a:p>
            <a:pPr>
              <a:spcBef>
                <a:spcPts val="300"/>
              </a:spcBef>
            </a:pPr>
            <a:r>
              <a:rPr sz="850" b="1" i="0">
                <a:solidFill>
                  <a:srgbClr val="1E1E1E"/>
                </a:solidFill>
                <a:latin typeface="Arial"/>
              </a:rPr>
              <a:t>CX transport 20</a:t>
            </a:r>
            <a:r>
              <a:rPr sz="850" b="0" i="0">
                <a:solidFill>
                  <a:srgbClr val="5C5650"/>
                </a:solidFill>
                <a:latin typeface="Arial"/>
              </a:rPr>
              <a:t>  half-open sockets, HTTP/2 stream limits, GOAWAY, LB idle timeouts   </a:t>
            </a:r>
            <a:r>
              <a:rPr sz="850" b="1" i="0">
                <a:solidFill>
                  <a:srgbClr val="1E1E1E"/>
                </a:solidFill>
                <a:latin typeface="Arial"/>
              </a:rPr>
              <a:t>AU audio 16</a:t>
            </a:r>
            <a:r>
              <a:rPr sz="850" b="0" i="0">
                <a:solidFill>
                  <a:srgbClr val="5C5650"/>
                </a:solidFill>
                <a:latin typeface="Arial"/>
              </a:rPr>
              <a:t>  endianness, clock drift, DTMF, mid-call codec change</a:t>
            </a:r>
          </a:p>
          <a:p>
            <a:r>
              <a:rPr sz="850" b="1" i="0">
                <a:solidFill>
                  <a:srgbClr val="1E1E1E"/>
                </a:solidFill>
                <a:latin typeface="Arial"/>
              </a:rPr>
              <a:t>BF buffering 6</a:t>
            </a:r>
            <a:r>
              <a:rPr sz="850" b="0" i="0">
                <a:solidFill>
                  <a:srgbClr val="5C5650"/>
                </a:solidFill>
                <a:latin typeface="Arial"/>
              </a:rPr>
              <a:t>  ring overflow, hop alignment   </a:t>
            </a:r>
            <a:r>
              <a:rPr sz="850" b="1" i="0">
                <a:solidFill>
                  <a:srgbClr val="1E1E1E"/>
                </a:solidFill>
                <a:latin typeface="Arial"/>
              </a:rPr>
              <a:t>SS session 6</a:t>
            </a:r>
            <a:r>
              <a:rPr sz="850" b="0" i="0">
                <a:solidFill>
                  <a:srgbClr val="5C5650"/>
                </a:solidFill>
                <a:latin typeface="Arial"/>
              </a:rPr>
              <a:t>  fencing, resume, Redis loss   </a:t>
            </a:r>
            <a:r>
              <a:rPr sz="850" b="1" i="0">
                <a:solidFill>
                  <a:srgbClr val="1E1E1E"/>
                </a:solidFill>
                <a:latin typeface="Arial"/>
              </a:rPr>
              <a:t>IN inference 6</a:t>
            </a:r>
            <a:r>
              <a:rPr sz="850" b="0" i="0">
                <a:solidFill>
                  <a:srgbClr val="5C5650"/>
                </a:solidFill>
                <a:latin typeface="Arial"/>
              </a:rPr>
              <a:t>  out-of-order, model hot-swap</a:t>
            </a:r>
          </a:p>
          <a:p>
            <a:r>
              <a:rPr sz="850" b="1" i="0">
                <a:solidFill>
                  <a:srgbClr val="1E1E1E"/>
                </a:solidFill>
                <a:latin typeface="Arial"/>
              </a:rPr>
              <a:t>OR ordering 4</a:t>
            </a:r>
            <a:r>
              <a:rPr sz="850" b="0" i="0">
                <a:solidFill>
                  <a:srgbClr val="5C5650"/>
                </a:solidFill>
                <a:latin typeface="Arial"/>
              </a:rPr>
              <a:t>  monotonic seq, late results   </a:t>
            </a:r>
            <a:r>
              <a:rPr sz="850" b="1" i="0">
                <a:solidFill>
                  <a:srgbClr val="9C36B5"/>
                </a:solidFill>
                <a:latin typeface="Arial"/>
              </a:rPr>
              <a:t>SC DPDP 7</a:t>
            </a:r>
            <a:r>
              <a:rPr sz="850" b="0" i="0">
                <a:solidFill>
                  <a:srgbClr val="5C5650"/>
                </a:solidFill>
                <a:latin typeface="Arial"/>
              </a:rPr>
              <a:t>  consent gate, no PCM on disk, mTLS   </a:t>
            </a:r>
            <a:r>
              <a:rPr sz="850" b="1" i="0">
                <a:solidFill>
                  <a:srgbClr val="1E1E1E"/>
                </a:solidFill>
                <a:latin typeface="Arial"/>
              </a:rPr>
              <a:t>OP ops 6</a:t>
            </a:r>
            <a:r>
              <a:rPr sz="850" b="0" i="0">
                <a:solidFill>
                  <a:srgbClr val="5C5650"/>
                </a:solidFill>
                <a:latin typeface="Arial"/>
              </a:rPr>
              <a:t>  drain, cardinality, admission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62672" y="5303520"/>
            <a:ext cx="4133087" cy="1298448"/>
          </a:xfrm>
          <a:prstGeom prst="roundRect">
            <a:avLst>
              <a:gd name="adj" fmla="val 6000"/>
            </a:avLst>
          </a:prstGeom>
          <a:solidFill>
            <a:srgbClr val="EEFBF1"/>
          </a:solidFill>
          <a:ln w="22225">
            <a:solidFill>
              <a:srgbClr val="2F9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08975" y="5413248"/>
            <a:ext cx="3877056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 b="1" i="0">
                <a:solidFill>
                  <a:srgbClr val="2F9E44"/>
                </a:solidFill>
                <a:latin typeface="Arial"/>
              </a:rPr>
              <a:t>DEFINITION OF DONE</a:t>
            </a:r>
          </a:p>
          <a:p>
            <a:pPr>
              <a:spcBef>
                <a:spcPts val="150"/>
              </a:spcBef>
            </a:pPr>
            <a:r>
              <a:rPr sz="850" b="0" i="0">
                <a:solidFill>
                  <a:srgbClr val="1E1E1E"/>
                </a:solidFill>
                <a:latin typeface="Arial"/>
              </a:rPr>
              <a:t>• Every edge case has a test that fails when its handling is removed</a:t>
            </a:r>
          </a:p>
          <a:p>
            <a:pPr>
              <a:spcBef>
                <a:spcPts val="150"/>
              </a:spcBef>
            </a:pPr>
            <a:r>
              <a:rPr sz="850" b="0" i="0">
                <a:solidFill>
                  <a:srgbClr val="1E1E1E"/>
                </a:solidFill>
                <a:latin typeface="Arial"/>
              </a:rPr>
              <a:t>• 1,200 sessions × 30 min inside the latency budget</a:t>
            </a:r>
          </a:p>
          <a:p>
            <a:pPr>
              <a:spcBef>
                <a:spcPts val="150"/>
              </a:spcBef>
            </a:pPr>
            <a:r>
              <a:rPr sz="850" b="0" i="0">
                <a:solidFill>
                  <a:srgbClr val="1E1E1E"/>
                </a:solidFill>
                <a:latin typeface="Arial"/>
              </a:rPr>
              <a:t>• 8-hour soak with flat memory</a:t>
            </a:r>
          </a:p>
          <a:p>
            <a:pPr>
              <a:spcBef>
                <a:spcPts val="150"/>
              </a:spcBef>
            </a:pPr>
            <a:r>
              <a:rPr sz="850" b="0" i="0">
                <a:solidFill>
                  <a:srgbClr val="1E1E1E"/>
                </a:solidFill>
                <a:latin typeface="Arial"/>
              </a:rPr>
              <a:t>• Live path and offline training front-end produce identical tensors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