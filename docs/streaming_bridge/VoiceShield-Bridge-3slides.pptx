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46304"/>
            <a:ext cx="11430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500" b="1">
                <a:solidFill>
                  <a:srgbClr val="1E1E1E"/>
                </a:solidFill>
                <a:latin typeface="Arial"/>
              </a:rPr>
              <a:t>Streaming Middleware Bridge (gRPC)</a:t>
            </a:r>
            <a:r>
              <a:rPr sz="2500" b="0">
                <a:solidFill>
                  <a:srgbClr val="1971C2"/>
                </a:solidFill>
                <a:latin typeface="Arial"/>
              </a:rPr>
              <a:t>  —  Component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66928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>
                <a:solidFill>
                  <a:srgbClr val="5C5650"/>
                </a:solidFill>
                <a:latin typeface="Arial"/>
              </a:rPr>
              <a:t>The only stateful, real-time component. Turns live forked call audio into scored analysis windows inside a 500 ms budget, for ~1,200 concurrent calls — on a stream that cannot be paused.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896112"/>
            <a:ext cx="2514600" cy="2395728"/>
          </a:xfrm>
          <a:prstGeom prst="roundRect">
            <a:avLst>
              <a:gd name="adj" fmla="val 5000"/>
            </a:avLst>
          </a:prstGeom>
          <a:solidFill>
            <a:srgbClr val="F5F2EC"/>
          </a:solidFill>
          <a:ln w="25400">
            <a:solidFill>
              <a:srgbClr val="1E1E1E"/>
            </a:solidFill>
            <a:extLst>
              <a:ext uri="{C807C97D-BFC1-408E-A445-0C87EB9F89A2}">
                <ns0:lineSketchStyleProps xmlns:ns0="http://schemas.microsoft.com/office/drawing/2018/sketchyshapes" sd="1799167567">
                  <ns0:type>
                    <ns0:lineSketchFreehand/>
                  </ns0:type>
                </ns0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50" b="1">
                <a:solidFill>
                  <a:srgbClr val="1E1E1E"/>
                </a:solidFill>
                <a:latin typeface="Arial"/>
              </a:rPr>
              <a:t>(1) TELEPHONY &amp;</a:t>
            </a:r>
          </a:p>
          <a:p>
            <a:r>
              <a:rPr sz="1450" b="1">
                <a:solidFill>
                  <a:srgbClr val="1E1E1E"/>
                </a:solidFill>
                <a:latin typeface="Arial"/>
              </a:rPr>
              <a:t>MEDIA GATEWAY</a:t>
            </a:r>
          </a:p>
          <a:p>
            <a:pPr>
              <a:spcBef>
                <a:spcPts val="700"/>
              </a:spcBef>
            </a:pPr>
            <a:r>
              <a:rPr sz="900" b="0">
                <a:solidFill>
                  <a:srgbClr val="5C5650"/>
                </a:solidFill>
                <a:latin typeface="Arial"/>
              </a:rPr>
              <a:t>FreeSWITCH + mod_audio_stream</a:t>
            </a:r>
          </a:p>
          <a:p>
            <a:pPr>
              <a:spcBef>
                <a:spcPts val="100"/>
              </a:spcBef>
            </a:pPr>
            <a:r>
              <a:rPr sz="850" b="0">
                <a:solidFill>
                  <a:srgbClr val="5C5650"/>
                </a:solidFill>
                <a:latin typeface="Arial"/>
              </a:rPr>
              <a:t>SIP / RTP · forks call audio</a:t>
            </a:r>
          </a:p>
          <a:p>
            <a:pPr>
              <a:spcBef>
                <a:spcPts val="100"/>
              </a:spcBef>
            </a:pPr>
            <a:r>
              <a:rPr sz="850" b="0">
                <a:solidFill>
                  <a:srgbClr val="5C5650"/>
                </a:solidFill>
                <a:latin typeface="Arial"/>
              </a:rPr>
              <a:t>thread-isolated per channel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82696" y="786384"/>
            <a:ext cx="2926080" cy="2633472"/>
          </a:xfrm>
          <a:prstGeom prst="roundRect">
            <a:avLst>
              <a:gd name="adj" fmla="val 5000"/>
            </a:avLst>
          </a:prstGeom>
          <a:solidFill>
            <a:srgbClr val="A5D8FF"/>
          </a:solidFill>
          <a:ln w="41275">
            <a:solidFill>
              <a:srgbClr val="1971C2"/>
            </a:solidFill>
            <a:extLst>
              <a:ext uri="{C807C97D-BFC1-408E-A445-0C87EB9F89A2}">
                <ns1:lineSketchStyleProps xmlns:ns1="http://schemas.microsoft.com/office/drawing/2018/sketchyshapes" sd="1799175486">
                  <ns1:type>
                    <ns1:lineSketchFreehand/>
                  </ns1:type>
                </ns1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1971C2"/>
                </a:solidFill>
                <a:latin typeface="Arial"/>
              </a:rPr>
              <a:t>(2) STREAMING BRIDGE</a:t>
            </a:r>
          </a:p>
          <a:p>
            <a:r>
              <a:rPr sz="1600" b="1">
                <a:solidFill>
                  <a:srgbClr val="1971C2"/>
                </a:solidFill>
                <a:latin typeface="Arial"/>
              </a:rPr>
              <a:t>gRPC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1971C2"/>
                </a:solidFill>
                <a:latin typeface="Arial"/>
              </a:rPr>
              <a:t>MY COMPONENT</a:t>
            </a:r>
          </a:p>
          <a:p>
            <a:pPr>
              <a:spcBef>
                <a:spcPts val="400"/>
              </a:spcBef>
            </a:pPr>
            <a:r>
              <a:rPr sz="850" b="0">
                <a:solidFill>
                  <a:srgbClr val="1E1E1E"/>
                </a:solidFill>
                <a:latin typeface="Arial"/>
              </a:rPr>
              <a:t>normalise · session state ·</a:t>
            </a:r>
          </a:p>
          <a:p>
            <a:pPr>
              <a:spcBef>
                <a:spcPts val="100"/>
              </a:spcBef>
            </a:pPr>
            <a:r>
              <a:rPr sz="850" b="0">
                <a:solidFill>
                  <a:srgbClr val="1E1E1E"/>
                </a:solidFill>
                <a:latin typeface="Arial"/>
              </a:rPr>
              <a:t>buffer · window · transport</a:t>
            </a:r>
          </a:p>
          <a:p>
            <a:pPr>
              <a:spcBef>
                <a:spcPts val="100"/>
              </a:spcBef>
            </a:pPr>
            <a:r>
              <a:rPr sz="850" b="0">
                <a:solidFill>
                  <a:srgbClr val="1E1E1E"/>
                </a:solidFill>
                <a:latin typeface="Arial"/>
              </a:rPr>
              <a:t>reorder · fan-out · degrade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92824" y="896112"/>
            <a:ext cx="2514600" cy="2395728"/>
          </a:xfrm>
          <a:prstGeom prst="roundRect">
            <a:avLst>
              <a:gd name="adj" fmla="val 5000"/>
            </a:avLst>
          </a:prstGeom>
          <a:solidFill>
            <a:srgbClr val="F5F2EC"/>
          </a:solidFill>
          <a:ln w="25400">
            <a:solidFill>
              <a:srgbClr val="1E1E1E"/>
            </a:solidFill>
            <a:extLst>
              <a:ext uri="{C807C97D-BFC1-408E-A445-0C87EB9F89A2}">
                <ns2:lineSketchStyleProps xmlns:ns2="http://schemas.microsoft.com/office/drawing/2018/sketchyshapes" sd="1799183405">
                  <ns2:type>
                    <ns2:lineSketchFreehand/>
                  </ns2:type>
                </ns2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50" b="1">
                <a:solidFill>
                  <a:srgbClr val="1E1E1E"/>
                </a:solidFill>
                <a:latin typeface="Arial"/>
              </a:rPr>
              <a:t>(3) AI &amp; DSP ENGINE</a:t>
            </a:r>
          </a:p>
          <a:p>
            <a:pPr>
              <a:spcBef>
                <a:spcPts val="500"/>
              </a:spcBef>
            </a:pPr>
            <a:r>
              <a:rPr sz="850" b="0">
                <a:solidFill>
                  <a:srgbClr val="5C5650"/>
                </a:solidFill>
                <a:latin typeface="Arial"/>
              </a:rPr>
              <a:t>WavLM + LFCC/MGD fusion</a:t>
            </a:r>
          </a:p>
          <a:p>
            <a:pPr>
              <a:spcBef>
                <a:spcPts val="100"/>
              </a:spcBef>
            </a:pPr>
            <a:r>
              <a:rPr sz="850" b="0">
                <a:solidFill>
                  <a:srgbClr val="5C5650"/>
                </a:solidFill>
                <a:latin typeface="Arial"/>
              </a:rPr>
              <a:t>Silero VAD · ECAPA-TDNN</a:t>
            </a:r>
          </a:p>
          <a:p>
            <a:pPr>
              <a:spcBef>
                <a:spcPts val="100"/>
              </a:spcBef>
            </a:pPr>
            <a:r>
              <a:rPr sz="850" b="0">
                <a:solidFill>
                  <a:srgbClr val="5C5650"/>
                </a:solidFill>
                <a:latin typeface="Arial"/>
              </a:rPr>
              <a:t>RTF &lt;= 0.1 target</a:t>
            </a:r>
          </a:p>
          <a:p>
            <a:pPr>
              <a:spcBef>
                <a:spcPts val="100"/>
              </a:spcBef>
            </a:pPr>
            <a:r>
              <a:rPr sz="850" b="0">
                <a:solidFill>
                  <a:srgbClr val="5C5650"/>
                </a:solidFill>
                <a:latin typeface="Arial"/>
              </a:rPr>
              <a:t>dev EER 0.55% (in-domain)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91472" y="896112"/>
            <a:ext cx="2313432" cy="2395728"/>
          </a:xfrm>
          <a:prstGeom prst="roundRect">
            <a:avLst>
              <a:gd name="adj" fmla="val 5000"/>
            </a:avLst>
          </a:prstGeom>
          <a:solidFill>
            <a:srgbClr val="F5F2EC"/>
          </a:solidFill>
          <a:ln w="25400">
            <a:solidFill>
              <a:srgbClr val="1E1E1E"/>
            </a:solidFill>
            <a:extLst>
              <a:ext uri="{C807C97D-BFC1-408E-A445-0C87EB9F89A2}">
                <ns3:lineSketchStyleProps xmlns:ns3="http://schemas.microsoft.com/office/drawing/2018/sketchyshapes" sd="1799191324">
                  <ns3:type>
                    <ns3:lineSketchFreehand/>
                  </ns3:type>
                </ns3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50" b="1">
                <a:solidFill>
                  <a:srgbClr val="1E1E1E"/>
                </a:solidFill>
                <a:latin typeface="Arial"/>
              </a:rPr>
              <a:t>(4) RISK ENGINE</a:t>
            </a:r>
          </a:p>
          <a:p>
            <a:r>
              <a:rPr sz="1450" b="1">
                <a:solidFill>
                  <a:srgbClr val="1E1E1E"/>
                </a:solidFill>
                <a:latin typeface="Arial"/>
              </a:rPr>
              <a:t>+ DASHBOARD</a:t>
            </a:r>
          </a:p>
          <a:p>
            <a:pPr>
              <a:spcBef>
                <a:spcPts val="500"/>
              </a:spcBef>
            </a:pPr>
            <a:r>
              <a:rPr sz="850" b="0">
                <a:solidFill>
                  <a:srgbClr val="5C5650"/>
                </a:solidFill>
                <a:latin typeface="Arial"/>
              </a:rPr>
              <a:t>weighted multi-signal fusion</a:t>
            </a:r>
          </a:p>
          <a:p>
            <a:pPr>
              <a:spcBef>
                <a:spcPts val="100"/>
              </a:spcBef>
            </a:pPr>
            <a:r>
              <a:rPr sz="850" b="0">
                <a:solidFill>
                  <a:srgbClr val="5C5650"/>
                </a:solidFill>
                <a:latin typeface="Arial"/>
              </a:rPr>
              <a:t>dynamic thresholds</a:t>
            </a:r>
          </a:p>
          <a:p>
            <a:pPr>
              <a:spcBef>
                <a:spcPts val="100"/>
              </a:spcBef>
            </a:pPr>
            <a:r>
              <a:rPr sz="850" b="0">
                <a:solidFill>
                  <a:srgbClr val="5C5650"/>
                </a:solidFill>
                <a:latin typeface="Arial"/>
              </a:rPr>
              <a:t>prevention + CRM webhooks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98648" y="2093976"/>
            <a:ext cx="347472" cy="0"/>
          </a:xfrm>
          <a:prstGeom prst="line">
            <a:avLst/>
          </a:prstGeom>
          <a:ln w="28575">
            <a:solidFill>
              <a:srgbClr val="1E1E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06624" y="1819656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5C5650"/>
                </a:solidFill>
                <a:latin typeface="Arial"/>
              </a:rPr>
              <a:t>WS · L16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45352" y="1929384"/>
            <a:ext cx="310896" cy="0"/>
          </a:xfrm>
          <a:prstGeom prst="line">
            <a:avLst/>
          </a:prstGeom>
          <a:ln w="28575">
            <a:solidFill>
              <a:srgbClr val="1E1E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53328" y="1655064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5C5650"/>
                </a:solidFill>
                <a:latin typeface="Arial"/>
              </a:rPr>
              <a:t>windows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245352" y="2295144"/>
            <a:ext cx="310896" cy="0"/>
          </a:xfrm>
          <a:prstGeom prst="line">
            <a:avLst/>
          </a:prstGeom>
          <a:ln w="28575">
            <a:solidFill>
              <a:srgbClr val="9C36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53328" y="235000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9C36B5"/>
                </a:solidFill>
                <a:latin typeface="Arial"/>
              </a:rPr>
              <a:t>scores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07424" y="2093976"/>
            <a:ext cx="347472" cy="0"/>
          </a:xfrm>
          <a:prstGeom prst="line">
            <a:avLst/>
          </a:prstGeom>
          <a:ln w="28575">
            <a:solidFill>
              <a:srgbClr val="1E1E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915400" y="1819656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5C5650"/>
                </a:solidFill>
                <a:latin typeface="Arial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47472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>
                <a:solidFill>
                  <a:srgbClr val="1971C2"/>
                </a:solidFill>
                <a:latin typeface="Arial"/>
              </a:rPr>
              <a:t>FOUR INTERFACE CONTRACTS</a:t>
            </a:r>
            <a:r>
              <a:rPr sz="950" b="0">
                <a:solidFill>
                  <a:srgbClr val="5C5650"/>
                </a:solidFill>
                <a:latin typeface="Arial"/>
              </a:rPr>
              <a:t>   — agree these before anyone writes code; changing one later costs all four of 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712463"/>
            <a:ext cx="2724912" cy="1883664"/>
          </a:xfrm>
          <a:prstGeom prst="roundRect">
            <a:avLst>
              <a:gd name="adj" fmla="val 5000"/>
            </a:avLst>
          </a:prstGeom>
          <a:solidFill>
            <a:srgbClr val="E7F2FC"/>
          </a:solidFill>
          <a:ln w="25400">
            <a:solidFill>
              <a:srgbClr val="1971C2"/>
            </a:solidFill>
            <a:extLst>
              <a:ext uri="{C807C97D-BFC1-408E-A445-0C87EB9F89A2}">
                <ns4:lineSketchStyleProps xmlns:ns4="http://schemas.microsoft.com/office/drawing/2018/sketchyshapes" sd="1799199243">
                  <ns4:type>
                    <ns4:lineSketchFreehand/>
                  </ns4:type>
                </ns4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50" b="1">
                <a:solidFill>
                  <a:srgbClr val="1971C2"/>
                </a:solidFill>
                <a:latin typeface="Arial"/>
              </a:rPr>
              <a:t>CONTRACT A</a:t>
            </a:r>
          </a:p>
          <a:p>
            <a:r>
              <a:rPr sz="1000" b="1">
                <a:solidFill>
                  <a:srgbClr val="1E1E1E"/>
                </a:solidFill>
                <a:latin typeface="Arial"/>
              </a:rPr>
              <a:t>Gateway  -&gt;  Bridge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session_id  </a:t>
            </a:r>
            <a:r>
              <a:rPr sz="800" b="0">
                <a:solidFill>
                  <a:srgbClr val="5C5650"/>
                </a:solidFill>
                <a:latin typeface="Arial"/>
              </a:rPr>
              <a:t>server-issued or HMAC-signed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encoding  </a:t>
            </a:r>
            <a:r>
              <a:rPr sz="800" b="0">
                <a:solidFill>
                  <a:srgbClr val="5C5650"/>
                </a:solidFill>
                <a:latin typeface="Arial"/>
              </a:rPr>
              <a:t>L16_LE / L16_BE / PCMU / PCMA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sample_rate  </a:t>
            </a:r>
            <a:r>
              <a:rPr sz="800" b="0">
                <a:solidFill>
                  <a:srgbClr val="5C5650"/>
                </a:solidFill>
                <a:latin typeface="Arial"/>
              </a:rPr>
              <a:t>8000 or 16000 — never assumed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channels + leg  </a:t>
            </a:r>
            <a:r>
              <a:rPr sz="800" b="0">
                <a:solidFill>
                  <a:srgbClr val="5C5650"/>
                </a:solidFill>
                <a:latin typeface="Arial"/>
              </a:rPr>
              <a:t>mono only; 2 legs = 2 sessions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sample_offset  </a:t>
            </a:r>
            <a:r>
              <a:rPr sz="800" b="0">
                <a:solidFill>
                  <a:srgbClr val="5C5650"/>
                </a:solidFill>
                <a:latin typeface="Arial"/>
              </a:rPr>
              <a:t>the authoritative clock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concealed  </a:t>
            </a:r>
            <a:r>
              <a:rPr sz="800" b="0">
                <a:solidFill>
                  <a:srgbClr val="5C5650"/>
                </a:solidFill>
                <a:latin typeface="Arial"/>
              </a:rPr>
              <a:t>true if gateway invented the audio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consent  </a:t>
            </a:r>
            <a:r>
              <a:rPr sz="800" b="0">
                <a:solidFill>
                  <a:srgbClr val="5C5650"/>
                </a:solidFill>
                <a:latin typeface="Arial"/>
              </a:rPr>
              <a:t>DPDP gate — no consent, no audio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/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OPEN Q  </a:t>
            </a:r>
            <a:r>
              <a:rPr sz="800" b="0">
                <a:solidFill>
                  <a:srgbClr val="5C5650"/>
                </a:solidFill>
                <a:latin typeface="Arial"/>
              </a:rPr>
              <a:t>is your L16 big- or little-endian?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Byte-swapped PCM is loud noise, and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the detector will confidently call it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synthetic. Validated by a 1 kHz test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tone in the session-open handshake.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55264" y="3712463"/>
            <a:ext cx="2724912" cy="1883664"/>
          </a:xfrm>
          <a:prstGeom prst="roundRect">
            <a:avLst>
              <a:gd name="adj" fmla="val 5000"/>
            </a:avLst>
          </a:prstGeom>
          <a:solidFill>
            <a:srgbClr val="F8EFFB"/>
          </a:solidFill>
          <a:ln w="25400">
            <a:solidFill>
              <a:srgbClr val="9C36B5"/>
            </a:solidFill>
            <a:extLst>
              <a:ext uri="{C807C97D-BFC1-408E-A445-0C87EB9F89A2}">
                <ns5:lineSketchStyleProps xmlns:ns5="http://schemas.microsoft.com/office/drawing/2018/sketchyshapes" sd="1799207162">
                  <ns5:type>
                    <ns5:lineSketchFreehand/>
                  </ns5:type>
                </ns5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50" b="1">
                <a:solidFill>
                  <a:srgbClr val="9C36B5"/>
                </a:solidFill>
                <a:latin typeface="Arial"/>
              </a:rPr>
              <a:t>CONTRACT B</a:t>
            </a:r>
          </a:p>
          <a:p>
            <a:r>
              <a:rPr sz="1000" b="1">
                <a:solidFill>
                  <a:srgbClr val="1E1E1E"/>
                </a:solidFill>
                <a:latin typeface="Arial"/>
              </a:rPr>
              <a:t>Bridge  &lt;-&gt;  AI Engine (gRPC)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AudioChunk  </a:t>
            </a:r>
            <a:r>
              <a:rPr sz="800" b="0">
                <a:solidFill>
                  <a:srgbClr val="5C5650"/>
                </a:solidFill>
                <a:latin typeface="Arial"/>
              </a:rPr>
              <a:t>pcm, window_seq, sample_offset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gap_before, partial, session_epoch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RiskScoreUpdate  </a:t>
            </a:r>
            <a:r>
              <a:rPr sz="800" b="0">
                <a:solidFill>
                  <a:srgbClr val="5C5650"/>
                </a:solidFill>
                <a:latin typeface="Arial"/>
              </a:rPr>
              <a:t>window_seq ECHOED back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model_version, status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why echoed  </a:t>
            </a:r>
            <a:r>
              <a:rPr sz="800" b="0">
                <a:solidFill>
                  <a:srgbClr val="5C5650"/>
                </a:solidFill>
                <a:latin typeface="Arial"/>
              </a:rPr>
              <a:t>out-of-order results are otherwise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unrecoverable on my side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batch  </a:t>
            </a:r>
            <a:r>
              <a:rPr sz="800" b="0">
                <a:solidFill>
                  <a:srgbClr val="5C5650"/>
                </a:solidFill>
                <a:latin typeface="Arial"/>
              </a:rPr>
              <a:t>always 1 — Dhwani collapses batches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/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deadline  </a:t>
            </a:r>
            <a:r>
              <a:rPr sz="800" b="0">
                <a:solidFill>
                  <a:srgbClr val="5C5650"/>
                </a:solidFill>
                <a:latin typeface="Arial"/>
              </a:rPr>
              <a:t>400 ms per window; on breach the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window is ABANDONED, never retried —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a late score is worthless and the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retry steals capacity from fresh audio.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pooling  </a:t>
            </a:r>
            <a:r>
              <a:rPr sz="800" b="0">
                <a:solidFill>
                  <a:srgbClr val="5C5650"/>
                </a:solidFill>
                <a:latin typeface="Arial"/>
              </a:rPr>
              <a:t>80 streams/conn (HTTP/2 caps at 100)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712463"/>
            <a:ext cx="2724912" cy="1883664"/>
          </a:xfrm>
          <a:prstGeom prst="roundRect">
            <a:avLst>
              <a:gd name="adj" fmla="val 5000"/>
            </a:avLst>
          </a:prstGeom>
          <a:solidFill>
            <a:srgbClr val="EEFBF1"/>
          </a:solidFill>
          <a:ln w="25400">
            <a:solidFill>
              <a:srgbClr val="2F9E44"/>
            </a:solidFill>
            <a:extLst>
              <a:ext uri="{C807C97D-BFC1-408E-A445-0C87EB9F89A2}">
                <ns6:lineSketchStyleProps xmlns:ns6="http://schemas.microsoft.com/office/drawing/2018/sketchyshapes" sd="1799215081">
                  <ns6:type>
                    <ns6:lineSketchFreehand/>
                  </ns6:type>
                </ns6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50" b="1">
                <a:solidFill>
                  <a:srgbClr val="2F9E44"/>
                </a:solidFill>
                <a:latin typeface="Arial"/>
              </a:rPr>
              <a:t>CONTRACT C</a:t>
            </a:r>
          </a:p>
          <a:p>
            <a:r>
              <a:rPr sz="1000" b="1">
                <a:solidFill>
                  <a:srgbClr val="1E1E1E"/>
                </a:solidFill>
                <a:latin typeface="Arial"/>
              </a:rPr>
              <a:t>Bridge  -&gt;  Risk Engine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ordering  </a:t>
            </a:r>
            <a:r>
              <a:rPr sz="800" b="0">
                <a:solidFill>
                  <a:srgbClr val="5C5650"/>
                </a:solidFill>
                <a:latin typeface="Arial"/>
              </a:rPr>
              <a:t>monotonic window_seq, deduplicated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gaps  </a:t>
            </a:r>
            <a:r>
              <a:rPr sz="800" b="0">
                <a:solidFill>
                  <a:srgbClr val="5C5650"/>
                </a:solidFill>
                <a:latin typeface="Arial"/>
              </a:rPr>
              <a:t>gap_before=true resets smoothing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status  </a:t>
            </a:r>
            <a:r>
              <a:rPr sz="800" b="0">
                <a:solidFill>
                  <a:srgbClr val="5C5650"/>
                </a:solidFill>
                <a:latin typeface="Arial"/>
              </a:rPr>
              <a:t>OK / SKIPPED_SILENCE / DEGRADED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/ DETECTOR_UNAVAILABLE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critical  </a:t>
            </a:r>
            <a:r>
              <a:rPr sz="800" b="0">
                <a:solidFill>
                  <a:srgbClr val="5C5650"/>
                </a:solidFill>
                <a:latin typeface="Arial"/>
              </a:rPr>
              <a:t>a missing signal must renormalise,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never be substituted with 0.0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model_version  </a:t>
            </a:r>
            <a:r>
              <a:rPr sz="800" b="0">
                <a:solidFill>
                  <a:srgbClr val="5C5650"/>
                </a:solidFill>
                <a:latin typeface="Arial"/>
              </a:rPr>
              <a:t>never mix versions in one call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/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OPEN Q  </a:t>
            </a:r>
            <a:r>
              <a:rPr sz="800" b="0">
                <a:solidFill>
                  <a:srgbClr val="5C5650"/>
                </a:solidFill>
                <a:latin typeface="Arial"/>
              </a:rPr>
              <a:t>on DETECTOR_UNAVAILABLE, do you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renormalise over remaining signals or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hold the last score? Treating a missing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signal as 0.0 fabricates fraud signal.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cadence  </a:t>
            </a:r>
            <a:r>
              <a:rPr sz="800" b="0">
                <a:solidFill>
                  <a:srgbClr val="5C5650"/>
                </a:solidFill>
                <a:latin typeface="Arial"/>
              </a:rPr>
              <a:t>10 scores/sec at L0, fewer when degraded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3712463"/>
            <a:ext cx="2724912" cy="1883664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25400">
            <a:solidFill>
              <a:srgbClr val="F08C00"/>
            </a:solidFill>
            <a:extLst>
              <a:ext uri="{C807C97D-BFC1-408E-A445-0C87EB9F89A2}">
                <ns7:lineSketchStyleProps xmlns:ns7="http://schemas.microsoft.com/office/drawing/2018/sketchyshapes" sd="1799223000">
                  <ns7:type>
                    <ns7:lineSketchFreehand/>
                  </ns7:type>
                </ns7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50" b="1">
                <a:solidFill>
                  <a:srgbClr val="F08C00"/>
                </a:solidFill>
                <a:latin typeface="Arial"/>
              </a:rPr>
              <a:t>CONTRACT D</a:t>
            </a:r>
          </a:p>
          <a:p>
            <a:r>
              <a:rPr sz="1000" b="1">
                <a:solidFill>
                  <a:srgbClr val="1E1E1E"/>
                </a:solidFill>
                <a:latin typeface="Arial"/>
              </a:rPr>
              <a:t>Bridge  -&gt;  Dashboard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transport  </a:t>
            </a:r>
            <a:r>
              <a:rPr sz="800" b="0">
                <a:solidFill>
                  <a:srgbClr val="5C5650"/>
                </a:solidFill>
                <a:latin typeface="Arial"/>
              </a:rPr>
              <a:t>best-effort WebSocket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delivery  </a:t>
            </a:r>
            <a:r>
              <a:rPr sz="800" b="0">
                <a:solidFill>
                  <a:srgbClr val="5C5650"/>
                </a:solidFill>
                <a:latin typeface="Arial"/>
              </a:rPr>
              <a:t>lossy by design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rule  </a:t>
            </a:r>
            <a:r>
              <a:rPr sz="800" b="0">
                <a:solidFill>
                  <a:srgbClr val="5C5650"/>
                </a:solidFill>
                <a:latin typeface="Arial"/>
              </a:rPr>
              <a:t>never in the critical path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must never apply backpressure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that reaches the audio path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reconnect  </a:t>
            </a:r>
            <a:r>
              <a:rPr sz="800" b="0">
                <a:solidFill>
                  <a:srgbClr val="5C5650"/>
                </a:solidFill>
                <a:latin typeface="Arial"/>
              </a:rPr>
              <a:t>client resumes, no server state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cardinality  </a:t>
            </a:r>
            <a:r>
              <a:rPr sz="800" b="0">
                <a:solidFill>
                  <a:srgbClr val="5C5650"/>
                </a:solidFill>
                <a:latin typeface="Arial"/>
              </a:rPr>
              <a:t>no per-session metric labels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/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why lossy  </a:t>
            </a:r>
            <a:r>
              <a:rPr sz="800" b="0">
                <a:solidFill>
                  <a:srgbClr val="5C5650"/>
                </a:solidFill>
                <a:latin typeface="Arial"/>
              </a:rPr>
              <a:t>a dashboard that can slow the audio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path is a dashboard that can drop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fraud detection. It gets best-effort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/>
            </a:r>
            <a:r>
              <a:rPr sz="800" b="0">
                <a:solidFill>
                  <a:srgbClr val="5C5650"/>
                </a:solidFill>
                <a:latin typeface="Arial"/>
              </a:rPr>
              <a:t>delivery and no guarantees, forever.</a:t>
            </a:r>
          </a:p>
          <a:p>
            <a:r>
              <a:rPr sz="800" b="1">
                <a:solidFill>
                  <a:srgbClr val="1E1E1E"/>
                </a:solidFill>
                <a:latin typeface="Arial"/>
              </a:rPr>
              <a:t>payload  </a:t>
            </a:r>
            <a:r>
              <a:rPr sz="800" b="0">
                <a:solidFill>
                  <a:srgbClr val="5C5650"/>
                </a:solidFill>
                <a:latin typeface="Arial"/>
              </a:rPr>
              <a:t>score, status, model_version, seq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5724144"/>
            <a:ext cx="11420856" cy="585216"/>
          </a:xfrm>
          <a:prstGeom prst="roundRect">
            <a:avLst>
              <a:gd name="adj" fmla="val 5000"/>
            </a:avLst>
          </a:prstGeom>
          <a:solidFill>
            <a:srgbClr val="FFF0EF"/>
          </a:solidFill>
          <a:ln w="25400">
            <a:solidFill>
              <a:srgbClr val="E03131"/>
            </a:solidFill>
            <a:extLst>
              <a:ext uri="{C807C97D-BFC1-408E-A445-0C87EB9F89A2}">
                <ns8:lineSketchStyleProps xmlns:ns8="http://schemas.microsoft.com/office/drawing/2018/sketchyshapes" sd="1799230919">
                  <ns8:type>
                    <ns8:lineSketchFreehand/>
                  </ns8:type>
                </ns8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E03131"/>
                </a:solidFill>
                <a:latin typeface="Arial"/>
              </a:rPr>
              <a:t>CORE CONSTRAINT   </a:t>
            </a:r>
            <a:r>
              <a:rPr sz="1000" b="0">
                <a:solidFill>
                  <a:srgbClr val="1E1E1E"/>
                </a:solidFill>
                <a:latin typeface="Arial"/>
              </a:rPr>
              <a:t>Every other service in this system can tell its upstream to slow down. A phone call cannot be paused.</a:t>
            </a:r>
          </a:p>
          <a:p>
            <a:r>
              <a:rPr sz="950" b="0">
                <a:solidFill>
                  <a:srgbClr val="5C5650"/>
                </a:solidFill>
                <a:latin typeface="Arial"/>
              </a:rPr>
              <a:t>Everything else — the ring buffer, the drop-oldest policy, the adaptive hop, the whole degradation ladder — is a consequence of that one fact.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46304"/>
            <a:ext cx="11430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500" b="1">
                <a:solidFill>
                  <a:srgbClr val="1E1E1E"/>
                </a:solidFill>
                <a:latin typeface="Arial"/>
              </a:rPr>
              <a:t>Inside the Bridge</a:t>
            </a:r>
            <a:r>
              <a:rPr sz="2500" b="0">
                <a:solidFill>
                  <a:srgbClr val="1971C2"/>
                </a:solidFill>
                <a:latin typeface="Arial"/>
              </a:rPr>
              <a:t>  —  Eight Stages, One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66928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>
                <a:solidFill>
                  <a:srgbClr val="5C5650"/>
                </a:solidFill>
                <a:latin typeface="Arial"/>
              </a:rPr>
              <a:t>N dissimilar transports become one canonical PCM timeline; that timeline becomes fixed windows the model was trained to expect.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60704"/>
            <a:ext cx="192024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1E1E1E"/>
            </a:solidFill>
            <a:extLst>
              <a:ext uri="{C807C97D-BFC1-408E-A445-0C87EB9F89A2}">
                <ns0:lineSketchStyleProps xmlns:ns0="http://schemas.microsoft.com/office/drawing/2018/sketchyshapes" sd="1799238838">
                  <ns0:type>
                    <ns0:lineSketchFreehand/>
                  </ns0:type>
                </ns0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1E1E1E"/>
                </a:solidFill>
                <a:latin typeface="Arial"/>
              </a:rPr>
              <a:t>FreeSWITCH</a:t>
            </a:r>
          </a:p>
          <a:p>
            <a:pPr>
              <a:spcBef>
                <a:spcPts val="200"/>
              </a:spcBef>
            </a:pPr>
            <a:r>
              <a:rPr sz="750" b="0">
                <a:solidFill>
                  <a:srgbClr val="5C5650"/>
                </a:solidFill>
                <a:latin typeface="Arial"/>
              </a:rPr>
              <a:t>WebSocket · L16 binary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8 or 16 kHz · primary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2029967"/>
            <a:ext cx="192024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1E1E1E"/>
            </a:solidFill>
            <a:extLst>
              <a:ext uri="{C807C97D-BFC1-408E-A445-0C87EB9F89A2}">
                <ns1:lineSketchStyleProps xmlns:ns1="http://schemas.microsoft.com/office/drawing/2018/sketchyshapes" sd="1799246757">
                  <ns1:type>
                    <ns1:lineSketchFreehand/>
                  </ns1:type>
                </ns1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1E1E1E"/>
                </a:solidFill>
                <a:latin typeface="Arial"/>
              </a:rPr>
              <a:t>Asterisk</a:t>
            </a:r>
          </a:p>
          <a:p>
            <a:pPr>
              <a:spcBef>
                <a:spcPts val="200"/>
              </a:spcBef>
            </a:pPr>
            <a:r>
              <a:rPr sz="750" b="0">
                <a:solidFill>
                  <a:srgbClr val="5C5650"/>
                </a:solidFill>
                <a:latin typeface="Arial"/>
              </a:rPr>
              <a:t>TCP · AudioSocket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length-prefixed framing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99232"/>
            <a:ext cx="192024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1E1E1E"/>
            </a:solidFill>
            <a:extLst>
              <a:ext uri="{C807C97D-BFC1-408E-A445-0C87EB9F89A2}">
                <ns2:lineSketchStyleProps xmlns:ns2="http://schemas.microsoft.com/office/drawing/2018/sketchyshapes" sd="1799254676">
                  <ns2:type>
                    <ns2:lineSketchFreehand/>
                  </ns2:type>
                </ns2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1E1E1E"/>
                </a:solidFill>
                <a:latin typeface="Arial"/>
              </a:rPr>
              <a:t>Twilio</a:t>
            </a:r>
          </a:p>
          <a:p>
            <a:pPr>
              <a:spcBef>
                <a:spcPts val="200"/>
              </a:spcBef>
            </a:pPr>
            <a:r>
              <a:rPr sz="750" b="0">
                <a:solidFill>
                  <a:srgbClr val="5C5650"/>
                </a:solidFill>
                <a:latin typeface="Arial"/>
              </a:rPr>
              <a:t>WSS · base64 JSON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G.711 mu-law 8 kHz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06624" y="1060704"/>
            <a:ext cx="1673352" cy="1828800"/>
          </a:xfrm>
          <a:prstGeom prst="roundRect">
            <a:avLst>
              <a:gd name="adj" fmla="val 5000"/>
            </a:avLst>
          </a:prstGeom>
          <a:solidFill>
            <a:srgbClr val="A5D8FF"/>
          </a:solidFill>
          <a:ln w="34925">
            <a:solidFill>
              <a:srgbClr val="1971C2"/>
            </a:solidFill>
            <a:extLst>
              <a:ext uri="{C807C97D-BFC1-408E-A445-0C87EB9F89A2}">
                <ns3:lineSketchStyleProps xmlns:ns3="http://schemas.microsoft.com/office/drawing/2018/sketchyshapes" sd="1799262595">
                  <ns3:type>
                    <ns3:lineSketchFreehand/>
                  </ns3:type>
                </ns3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50" b="1">
                <a:solidFill>
                  <a:srgbClr val="1971C2"/>
                </a:solidFill>
                <a:latin typeface="Arial"/>
              </a:rPr>
              <a:t>INGRESS</a:t>
            </a:r>
          </a:p>
          <a:p>
            <a:r>
              <a:rPr sz="1050" b="1">
                <a:solidFill>
                  <a:srgbClr val="1971C2"/>
                </a:solidFill>
                <a:latin typeface="Arial"/>
              </a:rPr>
              <a:t>ADAPTERS</a:t>
            </a:r>
          </a:p>
          <a:p>
            <a:r>
              <a:rPr sz="750" b="1">
                <a:solidFill>
                  <a:srgbClr val="1E1E1E"/>
                </a:solidFill>
                <a:latin typeface="Arial"/>
              </a:rPr>
              <a:t>N formats -&gt; 1 frame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decode · mono · 16 kHz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soxr VHQ resample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endianness validated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identical to training path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98264" y="1975104"/>
            <a:ext cx="146304" cy="0"/>
          </a:xfrm>
          <a:prstGeom prst="line">
            <a:avLst/>
          </a:prstGeom>
          <a:ln w="28575">
            <a:solidFill>
              <a:srgbClr val="1E1E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62856" y="1060704"/>
            <a:ext cx="1673352" cy="1828800"/>
          </a:xfrm>
          <a:prstGeom prst="roundRect">
            <a:avLst>
              <a:gd name="adj" fmla="val 5000"/>
            </a:avLst>
          </a:prstGeom>
          <a:solidFill>
            <a:srgbClr val="A5D8FF"/>
          </a:solidFill>
          <a:ln w="34925">
            <a:solidFill>
              <a:srgbClr val="1971C2"/>
            </a:solidFill>
            <a:extLst>
              <a:ext uri="{C807C97D-BFC1-408E-A445-0C87EB9F89A2}">
                <ns4:lineSketchStyleProps xmlns:ns4="http://schemas.microsoft.com/office/drawing/2018/sketchyshapes" sd="1799270514">
                  <ns4:type>
                    <ns4:lineSketchFreehand/>
                  </ns4:type>
                </ns4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50" b="1">
                <a:solidFill>
                  <a:srgbClr val="1971C2"/>
                </a:solidFill>
                <a:latin typeface="Arial"/>
              </a:rPr>
              <a:t>SESSION</a:t>
            </a:r>
          </a:p>
          <a:p>
            <a:r>
              <a:rPr sz="1050" b="1">
                <a:solidFill>
                  <a:srgbClr val="1971C2"/>
                </a:solidFill>
                <a:latin typeface="Arial"/>
              </a:rPr>
              <a:t>MANAGER</a:t>
            </a:r>
          </a:p>
          <a:p>
            <a:r>
              <a:rPr sz="750" b="1">
                <a:solidFill>
                  <a:srgbClr val="1E1E1E"/>
                </a:solidFill>
                <a:latin typeface="Arial"/>
              </a:rPr>
              <a:t>lifecycle + fencing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Redis epoch token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consent gate (DPDP)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resume within 15 s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2nd claimant rejected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54496" y="1975104"/>
            <a:ext cx="146304" cy="0"/>
          </a:xfrm>
          <a:prstGeom prst="line">
            <a:avLst/>
          </a:prstGeom>
          <a:ln w="28575">
            <a:solidFill>
              <a:srgbClr val="1E1E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19088" y="1060704"/>
            <a:ext cx="1673352" cy="1828800"/>
          </a:xfrm>
          <a:prstGeom prst="roundRect">
            <a:avLst>
              <a:gd name="adj" fmla="val 5000"/>
            </a:avLst>
          </a:prstGeom>
          <a:solidFill>
            <a:srgbClr val="A5D8FF"/>
          </a:solidFill>
          <a:ln w="34925">
            <a:solidFill>
              <a:srgbClr val="1971C2"/>
            </a:solidFill>
            <a:extLst>
              <a:ext uri="{C807C97D-BFC1-408E-A445-0C87EB9F89A2}">
                <ns5:lineSketchStyleProps xmlns:ns5="http://schemas.microsoft.com/office/drawing/2018/sketchyshapes" sd="1799278433">
                  <ns5:type>
                    <ns5:lineSketchFreehand/>
                  </ns5:type>
                </ns5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50" b="1">
                <a:solidFill>
                  <a:srgbClr val="1971C2"/>
                </a:solidFill>
                <a:latin typeface="Arial"/>
              </a:rPr>
              <a:t>RING</a:t>
            </a:r>
          </a:p>
          <a:p>
            <a:r>
              <a:rPr sz="1050" b="1">
                <a:solidFill>
                  <a:srgbClr val="1971C2"/>
                </a:solidFill>
                <a:latin typeface="Arial"/>
              </a:rPr>
              <a:t>BUFFER</a:t>
            </a:r>
          </a:p>
          <a:p>
            <a:r>
              <a:rPr sz="750" b="1">
                <a:solidFill>
                  <a:srgbClr val="1E1E1E"/>
                </a:solidFill>
                <a:latin typeface="Arial"/>
              </a:rPr>
              <a:t>bounded 256 KB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jitter absorb 60 ms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drop OLDEST on full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never blocks ingest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1 producer, 1 consumer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10728" y="1975104"/>
            <a:ext cx="146304" cy="0"/>
          </a:xfrm>
          <a:prstGeom prst="line">
            <a:avLst/>
          </a:prstGeom>
          <a:ln w="28575">
            <a:solidFill>
              <a:srgbClr val="1E1E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75320" y="1060704"/>
            <a:ext cx="1673352" cy="1828800"/>
          </a:xfrm>
          <a:prstGeom prst="roundRect">
            <a:avLst>
              <a:gd name="adj" fmla="val 5000"/>
            </a:avLst>
          </a:prstGeom>
          <a:solidFill>
            <a:srgbClr val="A5D8FF"/>
          </a:solidFill>
          <a:ln w="34925">
            <a:solidFill>
              <a:srgbClr val="1971C2"/>
            </a:solidFill>
            <a:extLst>
              <a:ext uri="{C807C97D-BFC1-408E-A445-0C87EB9F89A2}">
                <ns6:lineSketchStyleProps xmlns:ns6="http://schemas.microsoft.com/office/drawing/2018/sketchyshapes" sd="1799286352">
                  <ns6:type>
                    <ns6:lineSketchFreehand/>
                  </ns6:type>
                </ns6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50" b="1">
                <a:solidFill>
                  <a:srgbClr val="1971C2"/>
                </a:solidFill>
                <a:latin typeface="Arial"/>
              </a:rPr>
              <a:t>WINDOWER</a:t>
            </a:r>
          </a:p>
          <a:p>
            <a:r>
              <a:rPr sz="750" b="1">
                <a:solidFill>
                  <a:srgbClr val="1E1E1E"/>
                </a:solidFill>
                <a:latin typeface="Arial"/>
              </a:rPr>
              <a:t>2.0 s / 100 ms hop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sample-accurate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VAD-gated (~40% saved)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len from checkpoint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hop by samples, not frames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66960" y="1975104"/>
            <a:ext cx="146304" cy="0"/>
          </a:xfrm>
          <a:prstGeom prst="line">
            <a:avLst/>
          </a:prstGeom>
          <a:ln w="28575">
            <a:solidFill>
              <a:srgbClr val="1E1E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31552" y="1060704"/>
            <a:ext cx="1673352" cy="1828800"/>
          </a:xfrm>
          <a:prstGeom prst="roundRect">
            <a:avLst>
              <a:gd name="adj" fmla="val 5000"/>
            </a:avLst>
          </a:prstGeom>
          <a:solidFill>
            <a:srgbClr val="EEBEFA"/>
          </a:solidFill>
          <a:ln w="34925">
            <a:solidFill>
              <a:srgbClr val="9C36B5"/>
            </a:solidFill>
            <a:extLst>
              <a:ext uri="{C807C97D-BFC1-408E-A445-0C87EB9F89A2}">
                <ns7:lineSketchStyleProps xmlns:ns7="http://schemas.microsoft.com/office/drawing/2018/sketchyshapes" sd="1799294271">
                  <ns7:type>
                    <ns7:lineSketchFreehand/>
                  </ns7:type>
                </ns7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50" b="1">
                <a:solidFill>
                  <a:srgbClr val="9C36B5"/>
                </a:solidFill>
                <a:latin typeface="Arial"/>
              </a:rPr>
              <a:t>gRPC</a:t>
            </a:r>
          </a:p>
          <a:p>
            <a:r>
              <a:rPr sz="1050" b="1">
                <a:solidFill>
                  <a:srgbClr val="9C36B5"/>
                </a:solidFill>
                <a:latin typeface="Arial"/>
              </a:rPr>
              <a:t>POOL</a:t>
            </a:r>
          </a:p>
          <a:p>
            <a:r>
              <a:rPr sz="750" b="1">
                <a:solidFill>
                  <a:srgbClr val="1E1E1E"/>
                </a:solidFill>
                <a:latin typeface="Arial"/>
              </a:rPr>
              <a:t>bidi stream, batch=1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conn pool: 80 streams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400 ms deadline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retry on NEW stream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keepalive &lt; LB idle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22576" y="1490472"/>
            <a:ext cx="347472" cy="484632"/>
          </a:xfrm>
          <a:prstGeom prst="line">
            <a:avLst/>
          </a:prstGeom>
          <a:ln w="22225">
            <a:solidFill>
              <a:srgbClr val="1E1E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322576" y="1975104"/>
            <a:ext cx="347472" cy="484632"/>
          </a:xfrm>
          <a:prstGeom prst="line">
            <a:avLst/>
          </a:prstGeom>
          <a:ln w="22225">
            <a:solidFill>
              <a:srgbClr val="1E1E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322576" y="1975104"/>
            <a:ext cx="347472" cy="1453896"/>
          </a:xfrm>
          <a:prstGeom prst="line">
            <a:avLst/>
          </a:prstGeom>
          <a:ln w="22225">
            <a:solidFill>
              <a:srgbClr val="1E1E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131552" y="3163824"/>
            <a:ext cx="1673352" cy="914400"/>
          </a:xfrm>
          <a:prstGeom prst="roundRect">
            <a:avLst>
              <a:gd name="adj" fmla="val 5000"/>
            </a:avLst>
          </a:prstGeom>
          <a:solidFill>
            <a:srgbClr val="A5D8FF"/>
          </a:solidFill>
          <a:ln w="28575">
            <a:solidFill>
              <a:srgbClr val="1971C2"/>
            </a:solidFill>
            <a:extLst>
              <a:ext uri="{C807C97D-BFC1-408E-A445-0C87EB9F89A2}">
                <ns8:lineSketchStyleProps xmlns:ns8="http://schemas.microsoft.com/office/drawing/2018/sketchyshapes" sd="1799302190">
                  <ns8:type>
                    <ns8:lineSketchFreehand/>
                  </ns8:type>
                </ns8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1971C2"/>
                </a:solidFill>
                <a:latin typeface="Arial"/>
              </a:rPr>
              <a:t>REORDER</a:t>
            </a:r>
          </a:p>
          <a:p>
            <a:pPr>
              <a:spcBef>
                <a:spcPts val="200"/>
              </a:spcBef>
            </a:pPr>
            <a:r>
              <a:rPr sz="750" b="0">
                <a:solidFill>
                  <a:srgbClr val="5C5650"/>
                </a:solidFill>
                <a:latin typeface="Arial"/>
              </a:rPr>
              <a:t>by window_seq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300 ms bounded wait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163824"/>
            <a:ext cx="1673352" cy="914400"/>
          </a:xfrm>
          <a:prstGeom prst="roundRect">
            <a:avLst>
              <a:gd name="adj" fmla="val 5000"/>
            </a:avLst>
          </a:prstGeom>
          <a:solidFill>
            <a:srgbClr val="A5D8FF"/>
          </a:solidFill>
          <a:ln w="28575">
            <a:solidFill>
              <a:srgbClr val="1971C2"/>
            </a:solidFill>
            <a:extLst>
              <a:ext uri="{C807C97D-BFC1-408E-A445-0C87EB9F89A2}">
                <ns9:lineSketchStyleProps xmlns:ns9="http://schemas.microsoft.com/office/drawing/2018/sketchyshapes" sd="1799310109">
                  <ns9:type>
                    <ns9:lineSketchFreehand/>
                  </ns9:type>
                </ns9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1971C2"/>
                </a:solidFill>
                <a:latin typeface="Arial"/>
              </a:rPr>
              <a:t>FAN-OUT</a:t>
            </a:r>
          </a:p>
          <a:p>
            <a:pPr>
              <a:spcBef>
                <a:spcPts val="200"/>
              </a:spcBef>
            </a:pPr>
            <a:r>
              <a:rPr sz="750" b="0">
                <a:solidFill>
                  <a:srgbClr val="5C5650"/>
                </a:solidFill>
                <a:latin typeface="Arial"/>
              </a:rPr>
              <a:t>dedupe · annotate gaps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risk / dash / CRM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7" y="3163824"/>
            <a:ext cx="1673352" cy="914400"/>
          </a:xfrm>
          <a:prstGeom prst="roundRect">
            <a:avLst>
              <a:gd name="adj" fmla="val 5000"/>
            </a:avLst>
          </a:prstGeom>
          <a:solidFill>
            <a:srgbClr val="F5F2EC"/>
          </a:solidFill>
          <a:ln w="28575">
            <a:solidFill>
              <a:srgbClr val="1E1E1E"/>
            </a:solidFill>
            <a:extLst>
              <a:ext uri="{C807C97D-BFC1-408E-A445-0C87EB9F89A2}">
                <ns10:lineSketchStyleProps xmlns:ns10="http://schemas.microsoft.com/office/drawing/2018/sketchyshapes" sd="1799318028">
                  <ns10:type>
                    <ns10:lineSketchFreehand/>
                  </ns10:type>
                </ns10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1E1E1E"/>
                </a:solidFill>
                <a:latin typeface="Arial"/>
              </a:rPr>
              <a:t>(4) RISK ENGINE</a:t>
            </a:r>
          </a:p>
          <a:p>
            <a:pPr>
              <a:spcBef>
                <a:spcPts val="200"/>
              </a:spcBef>
            </a:pPr>
            <a:r>
              <a:rPr sz="750" b="0">
                <a:solidFill>
                  <a:srgbClr val="5C5650"/>
                </a:solidFill>
                <a:latin typeface="Arial"/>
              </a:rPr>
              <a:t>weighted fusion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prevention actions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968228" y="2926080"/>
            <a:ext cx="0" cy="201168"/>
          </a:xfrm>
          <a:prstGeom prst="line">
            <a:avLst/>
          </a:prstGeom>
          <a:ln w="28575">
            <a:solidFill>
              <a:srgbClr val="9C36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829800" y="3621024"/>
            <a:ext cx="265176" cy="0"/>
          </a:xfrm>
          <a:prstGeom prst="line">
            <a:avLst/>
          </a:prstGeom>
          <a:ln w="28575">
            <a:solidFill>
              <a:srgbClr val="9C36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790688" y="3621024"/>
            <a:ext cx="265176" cy="0"/>
          </a:xfrm>
          <a:prstGeom prst="line">
            <a:avLst/>
          </a:prstGeom>
          <a:ln w="28575">
            <a:solidFill>
              <a:srgbClr val="9C36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027664" y="2926080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9C36B5"/>
                </a:solidFill>
                <a:latin typeface="Arial"/>
              </a:rPr>
              <a:t>scores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279392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>
                <a:solidFill>
                  <a:srgbClr val="1971C2"/>
                </a:solidFill>
                <a:latin typeface="Arial"/>
              </a:rPr>
              <a:t>THREE DECISIONS THAT DETERMINE WHETHER THIS SCALES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4517136"/>
            <a:ext cx="3712463" cy="1792224"/>
          </a:xfrm>
          <a:prstGeom prst="roundRect">
            <a:avLst>
              <a:gd name="adj" fmla="val 5000"/>
            </a:avLst>
          </a:prstGeom>
          <a:solidFill>
            <a:srgbClr val="E7F2FC"/>
          </a:solidFill>
          <a:ln w="25400">
            <a:solidFill>
              <a:srgbClr val="1971C2"/>
            </a:solidFill>
            <a:extLst>
              <a:ext uri="{C807C97D-BFC1-408E-A445-0C87EB9F89A2}">
                <ns11:lineSketchStyleProps xmlns:ns11="http://schemas.microsoft.com/office/drawing/2018/sketchyshapes" sd="1799325947">
                  <ns11:type>
                    <ns11:lineSketchFreehand/>
                  </ns11:type>
                </ns11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1">
                <a:solidFill>
                  <a:srgbClr val="1971C2"/>
                </a:solidFill>
                <a:latin typeface="Arial"/>
              </a:rPr>
              <a:t>CONCURRENCY</a:t>
            </a:r>
          </a:p>
          <a:p>
            <a:r>
              <a:rPr sz="1000" b="1">
                <a:solidFill>
                  <a:srgbClr val="1E1E1E"/>
                </a:solidFill>
                <a:latin typeface="Arial"/>
              </a:rPr>
              <a:t>One asyncio loop. No per-session threads.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>1,200 threads costs ~9.6 GB of stack before any audio is buffered, and collapses on context switching. Sessions are coroutines; each ring has exactly one producer and one consumer, so it needs no lock.</a:t>
            </a:r>
          </a:p>
          <a:p>
            <a:r>
              <a:rPr sz="800" b="0">
                <a:solidFill>
                  <a:srgbClr val="5C5650"/>
                </a:solidFill>
                <a:latin typeface="Arial"/>
              </a:rPr>
              <a:t>CPU work (resample, VAD) runs in a process pool — a 5 ms block on the loop x 1,200 sessions is 300 s of stall per second.</a:t>
            </a:r>
          </a:p>
          <a:p>
            <a:r>
              <a:rPr sz="800" b="1">
                <a:solidFill>
                  <a:srgbClr val="1971C2"/>
                </a:solidFill>
                <a:latin typeface="Arial"/>
              </a:rPr>
              <a:t>Verified by: 1,200 concurrent sessions held for 30 min inside the latency budget.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42816" y="4517136"/>
            <a:ext cx="3712463" cy="1792224"/>
          </a:xfrm>
          <a:prstGeom prst="roundRect">
            <a:avLst>
              <a:gd name="adj" fmla="val 5000"/>
            </a:avLst>
          </a:prstGeom>
          <a:solidFill>
            <a:srgbClr val="F8EFFB"/>
          </a:solidFill>
          <a:ln w="25400">
            <a:solidFill>
              <a:srgbClr val="9C36B5"/>
            </a:solidFill>
            <a:extLst>
              <a:ext uri="{C807C97D-BFC1-408E-A445-0C87EB9F89A2}">
                <ns12:lineSketchStyleProps xmlns:ns12="http://schemas.microsoft.com/office/drawing/2018/sketchyshapes" sd="1799333866">
                  <ns12:type>
                    <ns12:lineSketchFreehand/>
                  </ns12:type>
                </ns12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1">
                <a:solidFill>
                  <a:srgbClr val="9C36B5"/>
                </a:solidFill>
                <a:latin typeface="Arial"/>
              </a:rPr>
              <a:t>THE CLOCK</a:t>
            </a:r>
          </a:p>
          <a:p>
            <a:r>
              <a:rPr sz="1000" b="1">
                <a:solidFill>
                  <a:srgbClr val="1E1E1E"/>
                </a:solidFill>
                <a:latin typeface="Arial"/>
              </a:rPr>
              <a:t>sample_offset is authoritative — not wall time.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>Wall clocks drift, jump on NTP, and differ per pod. A gateway running at 8000.5 Hz against an assumed 8000 Hz accumulates 1.8 s of error per hour.</a:t>
            </a:r>
          </a:p>
          <a:p>
            <a:r>
              <a:rPr sz="800" b="0">
                <a:solidFill>
                  <a:srgbClr val="5C5650"/>
                </a:solidFill>
                <a:latin typeface="Arial"/>
              </a:rPr>
              <a:t>Windowing must be reproducible: the same audio must produce the same windows regardless of when packets happened to arrive. Wall clock is used only to measure the SLA.</a:t>
            </a:r>
          </a:p>
          <a:p>
            <a:r>
              <a:rPr sz="800" b="1">
                <a:solidFill>
                  <a:srgbClr val="9C36B5"/>
                </a:solidFill>
                <a:latin typeface="Arial"/>
              </a:rPr>
              <a:t>Verified by: sample_offset stays monotonic across an injected 300 ms gap and a reconnect.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4517136"/>
            <a:ext cx="3712463" cy="1792224"/>
          </a:xfrm>
          <a:prstGeom prst="roundRect">
            <a:avLst>
              <a:gd name="adj" fmla="val 5000"/>
            </a:avLst>
          </a:prstGeom>
          <a:solidFill>
            <a:srgbClr val="EEFBF1"/>
          </a:solidFill>
          <a:ln w="25400">
            <a:solidFill>
              <a:srgbClr val="2F9E44"/>
            </a:solidFill>
            <a:extLst>
              <a:ext uri="{C807C97D-BFC1-408E-A445-0C87EB9F89A2}">
                <ns13:lineSketchStyleProps xmlns:ns13="http://schemas.microsoft.com/office/drawing/2018/sketchyshapes" sd="1799341785">
                  <ns13:type>
                    <ns13:lineSketchFreehand/>
                  </ns13:type>
                </ns13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1">
                <a:solidFill>
                  <a:srgbClr val="2F9E44"/>
                </a:solidFill>
                <a:latin typeface="Arial"/>
              </a:rPr>
              <a:t>MEMORY</a:t>
            </a:r>
          </a:p>
          <a:p>
            <a:r>
              <a:rPr sz="1000" b="1">
                <a:solidFill>
                  <a:srgbClr val="1E1E1E"/>
                </a:solidFill>
                <a:latin typeface="Arial"/>
              </a:rPr>
              <a:t>256 KB per session, enforced.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>4 s ring x 16 kHz x 4 bytes = 256 KB. At 1,200 concurrent sessions that is ~300 MB — comfortable.</a:t>
            </a:r>
          </a:p>
          <a:p>
            <a:r>
              <a:rPr sz="800" b="0">
                <a:solidFill>
                  <a:srgbClr val="5C5650"/>
                </a:solidFill>
                <a:latin typeface="Arial"/>
              </a:rPr>
              <a:t>The same design with an unbounded per-session accumulator over a 1-hour call would be 690 GB.</a:t>
            </a:r>
          </a:p>
          <a:p>
            <a:r>
              <a:rPr sz="800" b="1">
                <a:solidFill>
                  <a:srgbClr val="2F9E44"/>
                </a:solidFill>
                <a:latin typeface="Arial"/>
              </a:rPr>
              <a:t>Verified by: 8-hour soak at 200 sessions — any upward memory slope is a per-session leak.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46304"/>
            <a:ext cx="11430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500" b="1">
                <a:solidFill>
                  <a:srgbClr val="1E1E1E"/>
                </a:solidFill>
                <a:latin typeface="Arial"/>
              </a:rPr>
              <a:t>Latency, Failure Handling</a:t>
            </a:r>
            <a:r>
              <a:rPr sz="2500" b="0">
                <a:solidFill>
                  <a:srgbClr val="1971C2"/>
                </a:solidFill>
                <a:latin typeface="Arial"/>
              </a:rPr>
              <a:t>  &amp;  the Edge Cases That Fail Silently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66928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>
                <a:solidFill>
                  <a:srgbClr val="5C5650"/>
                </a:solidFill>
                <a:latin typeface="Arial"/>
              </a:rPr>
              <a:t>Most failures are loud, and therefore cheap. The expensive ones produce plausible-looking numbers that are wrong.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96112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1E1E1E"/>
                </a:solidFill>
                <a:latin typeface="Arial"/>
              </a:rPr>
              <a:t>500 ms END-TO-END SLA</a:t>
            </a:r>
            <a:r>
              <a:rPr sz="850" b="0">
                <a:solidFill>
                  <a:srgbClr val="5C5650"/>
                </a:solidFill>
                <a:latin typeface="Arial"/>
              </a:rPr>
              <a:t>   caller speaks -&gt; score delivered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133856"/>
            <a:ext cx="337962" cy="566928"/>
          </a:xfrm>
          <a:prstGeom prst="roundRect">
            <a:avLst>
              <a:gd name="adj" fmla="val 2000"/>
            </a:avLst>
          </a:prstGeom>
          <a:solidFill>
            <a:srgbClr val="F5F2EC"/>
          </a:solidFill>
          <a:ln w="19050">
            <a:solidFill>
              <a:srgbClr val="1E1E1E"/>
            </a:solidFill>
            <a:extLst>
              <a:ext uri="{C807C97D-BFC1-408E-A445-0C87EB9F89A2}">
                <ns0:lineSketchStyleProps xmlns:ns0="http://schemas.microsoft.com/office/drawing/2018/sketchyshapes" sd="1799349704">
                  <ns0:type>
                    <ns0:lineSketchFreehand/>
                  </ns0:type>
                </ns0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010" y="1133856"/>
            <a:ext cx="56327" cy="566928"/>
          </a:xfrm>
          <a:prstGeom prst="roundRect">
            <a:avLst>
              <a:gd name="adj" fmla="val 2000"/>
            </a:avLst>
          </a:prstGeom>
          <a:solidFill>
            <a:srgbClr val="F5F2EC"/>
          </a:solidFill>
          <a:ln w="19050">
            <a:solidFill>
              <a:srgbClr val="1E1E1E"/>
            </a:solidFill>
            <a:extLst>
              <a:ext uri="{C807C97D-BFC1-408E-A445-0C87EB9F89A2}">
                <ns1:lineSketchStyleProps xmlns:ns1="http://schemas.microsoft.com/office/drawing/2018/sketchyshapes" sd="1799357623">
                  <ns1:type>
                    <ns1:lineSketchFreehand/>
                  </ns1:type>
                </ns1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8337" y="1133856"/>
            <a:ext cx="675924" cy="566928"/>
          </a:xfrm>
          <a:prstGeom prst="roundRect">
            <a:avLst>
              <a:gd name="adj" fmla="val 2000"/>
            </a:avLst>
          </a:prstGeom>
          <a:solidFill>
            <a:srgbClr val="B2F2BB"/>
          </a:solidFill>
          <a:ln w="19050">
            <a:solidFill>
              <a:srgbClr val="2F9E44"/>
            </a:solidFill>
            <a:extLst>
              <a:ext uri="{C807C97D-BFC1-408E-A445-0C87EB9F89A2}">
                <ns2:lineSketchStyleProps xmlns:ns2="http://schemas.microsoft.com/office/drawing/2018/sketchyshapes" sd="1799365542">
                  <ns2:type>
                    <ns2:lineSketchFreehand/>
                  </ns2:type>
                </ns2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54261" y="1133856"/>
            <a:ext cx="1126540" cy="566928"/>
          </a:xfrm>
          <a:prstGeom prst="roundRect">
            <a:avLst>
              <a:gd name="adj" fmla="val 2000"/>
            </a:avLst>
          </a:prstGeom>
          <a:solidFill>
            <a:srgbClr val="A5D8FF"/>
          </a:solidFill>
          <a:ln w="19050">
            <a:solidFill>
              <a:srgbClr val="1971C2"/>
            </a:solidFill>
            <a:extLst>
              <a:ext uri="{C807C97D-BFC1-408E-A445-0C87EB9F89A2}">
                <ns3:lineSketchStyleProps xmlns:ns3="http://schemas.microsoft.com/office/drawing/2018/sketchyshapes" sd="1799373461">
                  <ns3:type>
                    <ns3:lineSketchFreehand/>
                  </ns3:type>
                </ns3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0802" y="1133856"/>
            <a:ext cx="112654" cy="566928"/>
          </a:xfrm>
          <a:prstGeom prst="roundRect">
            <a:avLst>
              <a:gd name="adj" fmla="val 2000"/>
            </a:avLst>
          </a:prstGeom>
          <a:solidFill>
            <a:srgbClr val="F5F2EC"/>
          </a:solidFill>
          <a:ln w="19050">
            <a:solidFill>
              <a:srgbClr val="1E1E1E"/>
            </a:solidFill>
            <a:extLst>
              <a:ext uri="{C807C97D-BFC1-408E-A445-0C87EB9F89A2}">
                <ns4:lineSketchStyleProps xmlns:ns4="http://schemas.microsoft.com/office/drawing/2018/sketchyshapes" sd="1799381380">
                  <ns4:type>
                    <ns4:lineSketchFreehand/>
                  </ns4:type>
                </ns4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3456" y="1133856"/>
            <a:ext cx="2253081" cy="566928"/>
          </a:xfrm>
          <a:prstGeom prst="roundRect">
            <a:avLst>
              <a:gd name="adj" fmla="val 2000"/>
            </a:avLst>
          </a:prstGeom>
          <a:solidFill>
            <a:srgbClr val="EEBEFA"/>
          </a:solidFill>
          <a:ln w="19050">
            <a:solidFill>
              <a:srgbClr val="9C36B5"/>
            </a:solidFill>
            <a:extLst>
              <a:ext uri="{C807C97D-BFC1-408E-A445-0C87EB9F89A2}">
                <ns5:lineSketchStyleProps xmlns:ns5="http://schemas.microsoft.com/office/drawing/2018/sketchyshapes" sd="1799389299">
                  <ns5:type>
                    <ns5:lineSketchFreehand/>
                  </ns5:type>
                </ns5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46538" y="1133856"/>
            <a:ext cx="225308" cy="566928"/>
          </a:xfrm>
          <a:prstGeom prst="roundRect">
            <a:avLst>
              <a:gd name="adj" fmla="val 2000"/>
            </a:avLst>
          </a:prstGeom>
          <a:solidFill>
            <a:srgbClr val="A5D8FF"/>
          </a:solidFill>
          <a:ln w="19050">
            <a:solidFill>
              <a:srgbClr val="1971C2"/>
            </a:solidFill>
            <a:extLst>
              <a:ext uri="{C807C97D-BFC1-408E-A445-0C87EB9F89A2}">
                <ns6:lineSketchStyleProps xmlns:ns6="http://schemas.microsoft.com/office/drawing/2018/sketchyshapes" sd="1799397218">
                  <ns6:type>
                    <ns6:lineSketchFreehand/>
                  </ns6:type>
                </ns6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71846" y="1133856"/>
            <a:ext cx="112654" cy="566928"/>
          </a:xfrm>
          <a:prstGeom prst="roundRect">
            <a:avLst>
              <a:gd name="adj" fmla="val 2000"/>
            </a:avLst>
          </a:prstGeom>
          <a:solidFill>
            <a:srgbClr val="F5F2EC"/>
          </a:solidFill>
          <a:ln w="19050">
            <a:solidFill>
              <a:srgbClr val="1E1E1E"/>
            </a:solidFill>
            <a:extLst>
              <a:ext uri="{C807C97D-BFC1-408E-A445-0C87EB9F89A2}">
                <ns7:lineSketchStyleProps xmlns:ns7="http://schemas.microsoft.com/office/drawing/2018/sketchyshapes" sd="1799405137">
                  <ns7:type>
                    <ns7:lineSketchFreehand/>
                  </ns7:type>
                </ns7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84500" y="1133856"/>
            <a:ext cx="732251" cy="566928"/>
          </a:xfrm>
          <a:prstGeom prst="roundRect">
            <a:avLst>
              <a:gd name="adj" fmla="val 2000"/>
            </a:avLst>
          </a:prstGeom>
          <a:solidFill>
            <a:srgbClr val="FFEC99"/>
          </a:solidFill>
          <a:ln w="19050">
            <a:solidFill>
              <a:srgbClr val="F08C00"/>
            </a:solidFill>
            <a:extLst>
              <a:ext uri="{C807C97D-BFC1-408E-A445-0C87EB9F89A2}">
                <ns8:lineSketchStyleProps xmlns:ns8="http://schemas.microsoft.com/office/drawing/2018/sketchyshapes" sd="1799413056">
                  <ns8:type>
                    <ns8:lineSketchFreehand/>
                  </ns8:type>
                </ns8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1E1E1E"/>
                </a:solidFill>
                <a:latin typeface="Arial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792224"/>
            <a:ext cx="5632704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2F9E44"/>
                </a:solidFill>
                <a:latin typeface="Arial"/>
              </a:rPr>
              <a:t>jitter buffer 60 ms</a:t>
            </a:r>
            <a:r>
              <a:rPr sz="800" b="0">
                <a:solidFill>
                  <a:srgbClr val="5C5650"/>
                </a:solidFill>
                <a:latin typeface="Arial"/>
              </a:rPr>
              <a:t>  ·  </a:t>
            </a:r>
            <a:r>
              <a:rPr sz="800" b="1">
                <a:solidFill>
                  <a:srgbClr val="1971C2"/>
                </a:solidFill>
                <a:latin typeface="Arial"/>
              </a:rPr>
              <a:t>window fill 100 ms</a:t>
            </a:r>
            <a:r>
              <a:rPr sz="800" b="0">
                <a:solidFill>
                  <a:srgbClr val="5C5650"/>
                </a:solidFill>
                <a:latin typeface="Arial"/>
              </a:rPr>
              <a:t>  ·  </a:t>
            </a:r>
            <a:r>
              <a:rPr sz="800" b="1">
                <a:solidFill>
                  <a:srgbClr val="9C36B5"/>
                </a:solidFill>
                <a:latin typeface="Arial"/>
              </a:rPr>
              <a:t>inference 200 ms</a:t>
            </a:r>
            <a:r>
              <a:rPr sz="800" b="0">
                <a:solidFill>
                  <a:srgbClr val="5C5650"/>
                </a:solidFill>
                <a:latin typeface="Arial"/>
              </a:rPr>
              <a:t>  ·  </a:t>
            </a:r>
            <a:r>
              <a:rPr sz="800" b="1">
                <a:solidFill>
                  <a:srgbClr val="F08C00"/>
                </a:solidFill>
                <a:latin typeface="Arial"/>
              </a:rPr>
              <a:t>slack 65 ms</a:t>
            </a:r>
          </a:p>
          <a:p>
            <a:r>
              <a:rPr sz="850" b="0">
                <a:solidFill>
                  <a:srgbClr val="1E1E1E"/>
                </a:solidFill>
                <a:latin typeface="Arial"/>
              </a:rPr>
              <a:t>Inference is 46% of the entire budget — so jitter-buffer depth is my single biggest lever before I must start dropping windows.</a:t>
            </a:r>
          </a:p>
          <a:p>
            <a:r>
              <a:rPr sz="850" b="0">
                <a:solidFill>
                  <a:srgbClr val="5C5650"/>
                </a:solidFill>
                <a:latin typeface="Arial"/>
              </a:rPr>
              <a:t>Every stage is measured separately. One end-to-end number cannot tell you which of the four of us regressed, and each of us will assume it was one of the other three.</a:t>
            </a:r>
          </a:p>
          <a:p>
            <a:r>
              <a:rPr sz="850" b="1">
                <a:solidFill>
                  <a:srgbClr val="E03131"/>
                </a:solidFill>
                <a:latin typeface="Arial"/>
              </a:rPr>
              <a:t>Time-to-first-score is ~2.4 s, not 500 ms — a full 2 s window must exist before anything can be scored.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2670048"/>
            <a:ext cx="5632704" cy="1005840"/>
          </a:xfrm>
          <a:prstGeom prst="roundRect">
            <a:avLst>
              <a:gd name="adj" fmla="val 5000"/>
            </a:avLst>
          </a:prstGeom>
          <a:solidFill>
            <a:srgbClr val="EEFBF1"/>
          </a:solidFill>
          <a:ln w="25400">
            <a:solidFill>
              <a:srgbClr val="2F9E44"/>
            </a:solidFill>
            <a:extLst>
              <a:ext uri="{C807C97D-BFC1-408E-A445-0C87EB9F89A2}">
                <ns9:lineSketchStyleProps xmlns:ns9="http://schemas.microsoft.com/office/drawing/2018/sketchyshapes" sd="1799420975">
                  <ns9:type>
                    <ns9:lineSketchFreehand/>
                  </ns9:type>
                </ns9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1">
                <a:solidFill>
                  <a:srgbClr val="2F9E44"/>
                </a:solidFill>
                <a:latin typeface="Arial"/>
              </a:rPr>
              <a:t>OPERATING-POINT TARGETS</a:t>
            </a:r>
            <a:r>
              <a:rPr sz="800" b="0">
                <a:solidFill>
                  <a:srgbClr val="5C5650"/>
                </a:solidFill>
                <a:latin typeface="Arial"/>
              </a:rPr>
              <a:t>   reported by name, not as an abstract EER</a:t>
            </a:r>
          </a:p>
          <a:p>
            <a:r>
              <a:rPr sz="850" b="1">
                <a:solidFill>
                  <a:srgbClr val="1E1E1E"/>
                </a:solidFill>
                <a:latin typeface="Arial"/>
              </a:rPr>
              <a:t>FAR &lt; 1.5%</a:t>
            </a:r>
            <a:r>
              <a:rPr sz="800" b="0">
                <a:solidFill>
                  <a:srgbClr val="5C5650"/>
                </a:solidFill>
                <a:latin typeface="Arial"/>
              </a:rPr>
              <a:t>  synthetic voices that get through        </a:t>
            </a:r>
            <a:r>
              <a:rPr sz="850" b="1">
                <a:solidFill>
                  <a:srgbClr val="1E1E1E"/>
                </a:solidFill>
                <a:latin typeface="Arial"/>
              </a:rPr>
              <a:t>FRR &lt; 3.0%</a:t>
            </a:r>
            <a:r>
              <a:rPr sz="800" b="0">
                <a:solidFill>
                  <a:srgbClr val="5C5650"/>
                </a:solidFill>
                <a:latin typeface="Arial"/>
              </a:rPr>
              <a:t>  genuine callers wrongly flagged</a:t>
            </a:r>
          </a:p>
          <a:p>
            <a:r>
              <a:rPr sz="850" b="1">
                <a:solidFill>
                  <a:srgbClr val="1E1E1E"/>
                </a:solidFill>
                <a:latin typeface="Arial"/>
              </a:rPr>
              <a:t>RTF &lt;= 0.1</a:t>
            </a:r>
            <a:r>
              <a:rPr sz="800" b="0">
                <a:solidFill>
                  <a:srgbClr val="5C5650"/>
                </a:solidFill>
                <a:latin typeface="Arial"/>
              </a:rPr>
              <a:t>  1 s of audio processed in &lt;= 100 ms      </a:t>
            </a:r>
            <a:r>
              <a:rPr sz="850" b="1">
                <a:solidFill>
                  <a:srgbClr val="1E1E1E"/>
                </a:solidFill>
                <a:latin typeface="Arial"/>
              </a:rPr>
              <a:t>E2E &lt; 500 ms</a:t>
            </a:r>
            <a:r>
              <a:rPr sz="800" b="0">
                <a:solidFill>
                  <a:srgbClr val="5C5650"/>
                </a:solidFill>
                <a:latin typeface="Arial"/>
              </a:rPr>
              <a:t>  conversational turn-taking budget</a:t>
            </a:r>
          </a:p>
          <a:p>
            <a:r>
              <a:rPr sz="800" b="0">
                <a:solidFill>
                  <a:srgbClr val="5C5650"/>
                </a:solidFill>
                <a:latin typeface="Arial"/>
              </a:rPr>
              <a:t>Current fusion model measures FAR 0.55% / FRR 0.55% in-domain — both inside target, but not yet validated out-of-domain.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89611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1E1E1E"/>
                </a:solidFill>
                <a:latin typeface="Arial"/>
              </a:rPr>
              <a:t>DEGRADATION LADDER</a:t>
            </a:r>
            <a:r>
              <a:rPr sz="850" b="0">
                <a:solidFill>
                  <a:srgbClr val="5C5650"/>
                </a:solidFill>
                <a:latin typeface="Arial"/>
              </a:rPr>
              <a:t>   hysteretic: exit only after 10 s of health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133856"/>
            <a:ext cx="5486400" cy="365760"/>
          </a:xfrm>
          <a:prstGeom prst="roundRect">
            <a:avLst>
              <a:gd name="adj" fmla="val 10000"/>
            </a:avLst>
          </a:prstGeom>
          <a:solidFill>
            <a:srgbClr val="B2F2BB"/>
          </a:solidFill>
          <a:ln w="25400">
            <a:solidFill>
              <a:srgbClr val="2F9E44"/>
            </a:solidFill>
            <a:extLst>
              <a:ext uri="{C807C97D-BFC1-408E-A445-0C87EB9F89A2}">
                <ns10:lineSketchStyleProps xmlns:ns10="http://schemas.microsoft.com/office/drawing/2018/sketchyshapes" sd="1799428894">
                  <ns10:type>
                    <ns10:lineSketchFreehand/>
                  </ns10:type>
                </ns10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2F9E44"/>
                </a:solidFill>
                <a:latin typeface="Arial"/>
              </a:rPr>
              <a:t>L0  NORMAL    </a:t>
            </a:r>
            <a:r>
              <a:rPr sz="800" b="0">
                <a:solidFill>
                  <a:srgbClr val="1E1E1E"/>
                </a:solidFill>
                <a:latin typeface="Arial"/>
              </a:rPr>
              <a:t>2 s window / 100 ms hop · full cadence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536192"/>
            <a:ext cx="5486400" cy="365760"/>
          </a:xfrm>
          <a:prstGeom prst="roundRect">
            <a:avLst>
              <a:gd name="adj" fmla="val 10000"/>
            </a:avLst>
          </a:prstGeom>
          <a:solidFill>
            <a:srgbClr val="EEFBF1"/>
          </a:solidFill>
          <a:ln w="25400">
            <a:solidFill>
              <a:srgbClr val="2F9E44"/>
            </a:solidFill>
            <a:extLst>
              <a:ext uri="{C807C97D-BFC1-408E-A445-0C87EB9F89A2}">
                <ns11:lineSketchStyleProps xmlns:ns11="http://schemas.microsoft.com/office/drawing/2018/sketchyshapes" sd="1799436813">
                  <ns11:type>
                    <ns11:lineSketchFreehand/>
                  </ns11:type>
                </ns11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2F9E44"/>
                </a:solidFill>
                <a:latin typeface="Arial"/>
              </a:rPr>
              <a:t>L1  ELEVATED    </a:t>
            </a:r>
            <a:r>
              <a:rPr sz="800" b="0">
                <a:solidFill>
                  <a:srgbClr val="1E1E1E"/>
                </a:solidFill>
                <a:latin typeface="Arial"/>
              </a:rPr>
              <a:t>queue &gt; 2 windows -&gt; hop widens to 200 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938528"/>
            <a:ext cx="5486400" cy="365760"/>
          </a:xfrm>
          <a:prstGeom prst="roundRect">
            <a:avLst>
              <a:gd name="adj" fmla="val 10000"/>
            </a:avLst>
          </a:prstGeom>
          <a:solidFill>
            <a:srgbClr val="FFEC99"/>
          </a:solidFill>
          <a:ln w="25400">
            <a:solidFill>
              <a:srgbClr val="F08C00"/>
            </a:solidFill>
            <a:extLst>
              <a:ext uri="{C807C97D-BFC1-408E-A445-0C87EB9F89A2}">
                <ns12:lineSketchStyleProps xmlns:ns12="http://schemas.microsoft.com/office/drawing/2018/sketchyshapes" sd="1799444732">
                  <ns12:type>
                    <ns12:lineSketchFreehand/>
                  </ns12:type>
                </ns12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F08C00"/>
                </a:solidFill>
                <a:latin typeface="Arial"/>
              </a:rPr>
              <a:t>L2  DEGRADED    </a:t>
            </a:r>
            <a:r>
              <a:rPr sz="800" b="0">
                <a:solidFill>
                  <a:srgbClr val="1E1E1E"/>
                </a:solidFill>
                <a:latin typeface="Arial"/>
              </a:rPr>
              <a:t>ring dropping -&gt; hop 500 ms, drop oldest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340864"/>
            <a:ext cx="5486400" cy="365760"/>
          </a:xfrm>
          <a:prstGeom prst="roundRect">
            <a:avLst>
              <a:gd name="adj" fmla="val 10000"/>
            </a:avLst>
          </a:prstGeom>
          <a:solidFill>
            <a:srgbClr val="FFC9C9"/>
          </a:solidFill>
          <a:ln w="25400">
            <a:solidFill>
              <a:srgbClr val="E03131"/>
            </a:solidFill>
            <a:extLst>
              <a:ext uri="{C807C97D-BFC1-408E-A445-0C87EB9F89A2}">
                <ns13:lineSketchStyleProps xmlns:ns13="http://schemas.microsoft.com/office/drawing/2018/sketchyshapes" sd="1799452651">
                  <ns13:type>
                    <ns13:lineSketchFreehand/>
                  </ns13:type>
                </ns13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E03131"/>
                </a:solidFill>
                <a:latin typeface="Arial"/>
              </a:rPr>
              <a:t>L3  DETECTOR DOWN    </a:t>
            </a:r>
            <a:r>
              <a:rPr sz="800" b="0">
                <a:solidFill>
                  <a:srgbClr val="1E1E1E"/>
                </a:solidFill>
                <a:latin typeface="Arial"/>
              </a:rPr>
              <a:t>gRPC gone &gt; 5 s -&gt; scoring stops, call lives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743200"/>
            <a:ext cx="5486400" cy="365760"/>
          </a:xfrm>
          <a:prstGeom prst="roundRect">
            <a:avLst>
              <a:gd name="adj" fmla="val 10000"/>
            </a:avLst>
          </a:prstGeom>
          <a:solidFill>
            <a:srgbClr val="FFF0EF"/>
          </a:solidFill>
          <a:ln w="25400">
            <a:solidFill>
              <a:srgbClr val="E03131"/>
            </a:solidFill>
            <a:extLst>
              <a:ext uri="{C807C97D-BFC1-408E-A445-0C87EB9F89A2}">
                <ns14:lineSketchStyleProps xmlns:ns14="http://schemas.microsoft.com/office/drawing/2018/sketchyshapes" sd="1799460570">
                  <ns14:type>
                    <ns14:lineSketchFreehand/>
                  </ns14:type>
                </ns14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E03131"/>
                </a:solidFill>
                <a:latin typeface="Arial"/>
              </a:rPr>
              <a:t>L4  SHEDDING    </a:t>
            </a:r>
            <a:r>
              <a:rPr sz="800" b="0">
                <a:solidFill>
                  <a:srgbClr val="1E1E1E"/>
                </a:solidFill>
                <a:latin typeface="Arial"/>
              </a:rPr>
              <a:t>node at capacity -&gt; reject NEW sessions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182112"/>
            <a:ext cx="5486400" cy="512064"/>
          </a:xfrm>
          <a:prstGeom prst="roundRect">
            <a:avLst>
              <a:gd name="adj" fmla="val 5000"/>
            </a:avLst>
          </a:prstGeom>
          <a:solidFill>
            <a:srgbClr val="FFF0EF"/>
          </a:solidFill>
          <a:ln w="25400">
            <a:solidFill>
              <a:srgbClr val="E03131"/>
            </a:solidFill>
            <a:extLst>
              <a:ext uri="{C807C97D-BFC1-408E-A445-0C87EB9F89A2}">
                <ns15:lineSketchStyleProps xmlns:ns15="http://schemas.microsoft.com/office/drawing/2018/sketchyshapes" sd="1799468489">
                  <ns15:type>
                    <ns15:lineSketchFreehand/>
                  </ns15:type>
                </ns15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50" b="1">
                <a:solidFill>
                  <a:srgbClr val="E03131"/>
                </a:solidFill>
                <a:latin typeface="Arial"/>
              </a:rPr>
              <a:t>GOVERNING RULE</a:t>
            </a:r>
            <a:r>
              <a:rPr sz="850" b="0">
                <a:solidFill>
                  <a:srgbClr val="1E1E1E"/>
                </a:solidFill>
                <a:latin typeface="Arial"/>
              </a:rPr>
              <a:t>   absence of a score is never equivalent to a low score.</a:t>
            </a:r>
          </a:p>
          <a:p>
            <a:r>
              <a:rPr sz="800" b="0">
                <a:solidFill>
                  <a:srgbClr val="5C5650"/>
                </a:solidFill>
                <a:latin typeface="Arial"/>
              </a:rPr>
              <a:t>Reporting “genuine” when the pipeline is broken is the one failure mode that actively causes harm.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8404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>
                <a:solidFill>
                  <a:srgbClr val="E03131"/>
                </a:solidFill>
                <a:latin typeface="Arial"/>
              </a:rPr>
              <a:t>THE THREE THAT FAIL SILENTLY</a:t>
            </a:r>
            <a:r>
              <a:rPr sz="950" b="0">
                <a:solidFill>
                  <a:srgbClr val="5C5650"/>
                </a:solidFill>
                <a:latin typeface="Arial"/>
              </a:rPr>
              <a:t>   — no exception, no error, just quietly wrong output. 71 edge cases catalogued in total.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4096512"/>
            <a:ext cx="3712463" cy="1847088"/>
          </a:xfrm>
          <a:prstGeom prst="roundRect">
            <a:avLst>
              <a:gd name="adj" fmla="val 5000"/>
            </a:avLst>
          </a:prstGeom>
          <a:solidFill>
            <a:srgbClr val="FFF0EF"/>
          </a:solidFill>
          <a:ln w="28575">
            <a:solidFill>
              <a:srgbClr val="E03131"/>
            </a:solidFill>
            <a:extLst>
              <a:ext uri="{C807C97D-BFC1-408E-A445-0C87EB9F89A2}">
                <ns16:lineSketchStyleProps xmlns:ns16="http://schemas.microsoft.com/office/drawing/2018/sketchyshapes" sd="1799476408">
                  <ns16:type>
                    <ns16:lineSketchFreehand/>
                  </ns16:type>
                </ns16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1">
                <a:solidFill>
                  <a:srgbClr val="E03131"/>
                </a:solidFill>
                <a:latin typeface="Arial"/>
              </a:rPr>
              <a:t>AU-04</a:t>
            </a:r>
            <a:r>
              <a:rPr sz="750" b="0">
                <a:solidFill>
                  <a:srgbClr val="5C5650"/>
                </a:solidFill>
                <a:latin typeface="Arial"/>
              </a:rPr>
              <a:t>   AUDIO</a:t>
            </a:r>
          </a:p>
          <a:p>
            <a:r>
              <a:rPr sz="1100" b="1">
                <a:solidFill>
                  <a:srgbClr val="1E1E1E"/>
                </a:solidFill>
                <a:latin typeface="Arial"/>
              </a:rPr>
              <a:t>Averaging a dual-leg fork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>The gateway forks caller and callee as two channels. Averaging them mixes two speakers into one signal, destroying both the deepfake and the speaker-verification signal.</a:t>
            </a:r>
          </a:p>
          <a:p>
            <a:r>
              <a:rPr sz="800" b="1">
                <a:solidFill>
                  <a:srgbClr val="E03131"/>
                </a:solidFill>
                <a:latin typeface="Arial"/>
              </a:rPr>
              <a:t>FIX  mono mandatory. Two legs arrive as two sessions sharing a call_id. Reject 2-channel input outright — never average.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TEST  assert channels == 1 at the ingress adapter; a 2-channel fixture must raise.</a:t>
            </a:r>
          </a:p>
          <a:p>
            <a:r>
              <a:rPr sz="750" b="1">
                <a:solidFill>
                  <a:srgbClr val="1E1E1E"/>
                </a:solidFill>
                <a:latin typeface="Arial"/>
              </a:rPr>
              <a:t>COST IF MISSED  every score on every dual-leg call is meaningless, and nothing anywhere reports an error.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42816" y="4096512"/>
            <a:ext cx="3712463" cy="1847088"/>
          </a:xfrm>
          <a:prstGeom prst="roundRect">
            <a:avLst>
              <a:gd name="adj" fmla="val 5000"/>
            </a:avLst>
          </a:prstGeom>
          <a:solidFill>
            <a:srgbClr val="FFF0EF"/>
          </a:solidFill>
          <a:ln w="28575">
            <a:solidFill>
              <a:srgbClr val="E03131"/>
            </a:solidFill>
            <a:extLst>
              <a:ext uri="{C807C97D-BFC1-408E-A445-0C87EB9F89A2}">
                <ns17:lineSketchStyleProps xmlns:ns17="http://schemas.microsoft.com/office/drawing/2018/sketchyshapes" sd="1799484327">
                  <ns17:type>
                    <ns17:lineSketchFreehand/>
                  </ns17:type>
                </ns17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1">
                <a:solidFill>
                  <a:srgbClr val="E03131"/>
                </a:solidFill>
                <a:latin typeface="Arial"/>
              </a:rPr>
              <a:t>AU-08</a:t>
            </a:r>
            <a:r>
              <a:rPr sz="750" b="0">
                <a:solidFill>
                  <a:srgbClr val="5C5650"/>
                </a:solidFill>
                <a:latin typeface="Arial"/>
              </a:rPr>
              <a:t>   AUDIO</a:t>
            </a:r>
          </a:p>
          <a:p>
            <a:r>
              <a:rPr sz="1100" b="1">
                <a:solidFill>
                  <a:srgbClr val="1E1E1E"/>
                </a:solidFill>
                <a:latin typeface="Arial"/>
              </a:rPr>
              <a:t>Packet-loss concealment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>On a bad line the gateway invents audio to cover lost packets. That audio is literally synthetic — so the detector flags a genuine caller as a deepfake.</a:t>
            </a:r>
          </a:p>
          <a:p>
            <a:r>
              <a:rPr sz="800" b="1">
                <a:solidFill>
                  <a:srgbClr val="E03131"/>
                </a:solidFill>
                <a:latin typeface="Arial"/>
              </a:rPr>
              <a:t>FIX  gateway sets concealed=true; windows over ~15% concealed samples are skipped or sent with a down-weight flag.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TEST  replay at 30% packet loss with PLC on — false-positive rate must not rise.</a:t>
            </a:r>
          </a:p>
          <a:p>
            <a:r>
              <a:rPr sz="750" b="1">
                <a:solidFill>
                  <a:srgbClr val="1E1E1E"/>
                </a:solidFill>
                <a:latin typeface="Arial"/>
              </a:rPr>
              <a:t>COST IF MISSED  genuine customers on poor lines get accused of fraud. This is what gets the system switched off.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4096512"/>
            <a:ext cx="3712463" cy="1847088"/>
          </a:xfrm>
          <a:prstGeom prst="roundRect">
            <a:avLst>
              <a:gd name="adj" fmla="val 5000"/>
            </a:avLst>
          </a:prstGeom>
          <a:solidFill>
            <a:srgbClr val="FFF0EF"/>
          </a:solidFill>
          <a:ln w="28575">
            <a:solidFill>
              <a:srgbClr val="E03131"/>
            </a:solidFill>
            <a:extLst>
              <a:ext uri="{C807C97D-BFC1-408E-A445-0C87EB9F89A2}">
                <ns18:lineSketchStyleProps xmlns:ns18="http://schemas.microsoft.com/office/drawing/2018/sketchyshapes" sd="1799492246">
                  <ns18:type>
                    <ns18:lineSketchFreehand/>
                  </ns18:type>
                </ns18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1">
                <a:solidFill>
                  <a:srgbClr val="E03131"/>
                </a:solidFill>
                <a:latin typeface="Arial"/>
              </a:rPr>
              <a:t>SS-06</a:t>
            </a:r>
            <a:r>
              <a:rPr sz="750" b="0">
                <a:solidFill>
                  <a:srgbClr val="5C5650"/>
                </a:solidFill>
                <a:latin typeface="Arial"/>
              </a:rPr>
              <a:t>   SESSION</a:t>
            </a:r>
          </a:p>
          <a:p>
            <a:r>
              <a:rPr sz="1100" b="1">
                <a:solidFill>
                  <a:srgbClr val="1E1E1E"/>
                </a:solidFill>
                <a:latin typeface="Arial"/>
              </a:rPr>
              <a:t>Missing speaker enrolment</a:t>
            </a:r>
          </a:p>
          <a:p>
            <a:r>
              <a:rPr sz="800" b="0">
                <a:solidFill>
                  <a:srgbClr val="1E1E1E"/>
                </a:solidFill>
                <a:latin typeface="Arial"/>
              </a:rPr>
              <a:t>No reference voiceprint makes similarity return 0.0, which fusion reads as 'total mismatch' — fabricating fraud signal for every caller who never enrolled.</a:t>
            </a:r>
          </a:p>
          <a:p>
            <a:r>
              <a:rPr sz="800" b="1">
                <a:solidFill>
                  <a:srgbClr val="E03131"/>
                </a:solidFill>
                <a:latin typeface="Arial"/>
              </a:rPr>
              <a:t>FIX  emit null plus speaker_signal=UNAVAILABLE. The risk engine renormalises over remaining signals.</a:t>
            </a:r>
          </a:p>
          <a:p>
            <a:r>
              <a:rPr sz="750" b="0">
                <a:solidFill>
                  <a:srgbClr val="5C5650"/>
                </a:solidFill>
                <a:latin typeface="Arial"/>
              </a:rPr>
              <a:t>TEST  an unenrolled caller must not score higher than an enrolled match baseline.</a:t>
            </a:r>
          </a:p>
          <a:p>
            <a:r>
              <a:rPr sz="750" b="1">
                <a:solidFill>
                  <a:srgbClr val="1E1E1E"/>
                </a:solidFill>
                <a:latin typeface="Arial"/>
              </a:rPr>
              <a:t>COST IF MISSED  every first-time caller looks like an impostor — false accusations at the worst possible moment.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