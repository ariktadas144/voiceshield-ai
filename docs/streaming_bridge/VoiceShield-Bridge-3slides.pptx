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28016"/>
            <a:ext cx="11430000" cy="531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E1E1E"/>
                </a:solidFill>
                <a:latin typeface="Architects Daughter"/>
              </a:rPr>
              <a:t>Streaming Middleware Bridge</a:t>
            </a:r>
            <a:r>
              <a:rPr sz="2400" b="0">
                <a:solidFill>
                  <a:srgbClr val="1971C2"/>
                </a:solidFill>
                <a:latin typeface="Architects Daughter"/>
              </a:rPr>
              <a:t>  —  Component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95960"/>
            <a:ext cx="11430000" cy="48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5C5650"/>
                </a:solidFill>
                <a:latin typeface="Architects Daughter"/>
              </a:rPr>
              <a:t>The only stateful, real-time component. Turns live forked call audio into scored analysis windows inside a 500 ms budget, for ~1,200 concurrent calls — on a stream that cannot be paused.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308100"/>
            <a:ext cx="2240280" cy="2172715"/>
          </a:xfrm>
          <a:prstGeom prst="roundRect">
            <a:avLst>
              <a:gd name="adj" fmla="val 5000"/>
            </a:avLst>
          </a:prstGeom>
          <a:solidFill>
            <a:srgbClr val="F5F2EC"/>
          </a:solidFill>
          <a:ln w="28575">
            <a:solidFill>
              <a:srgbClr val="1E1E1E"/>
            </a:solidFill>
            <a:extLst>
              <a:ext uri="{C807C97D-BFC1-408E-A445-0C87EB9F89A2}">
                <ns0:lineSketchStyleProps xmlns:ns0="http://schemas.microsoft.com/office/drawing/2018/sketchyshapes" sd="1799167567">
                  <ns0:type>
                    <ns0:lineSketchFreehand/>
                  </ns0:type>
                </ns0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300" b="1">
                <a:solidFill>
                  <a:srgbClr val="1E1E1E"/>
                </a:solidFill>
                <a:latin typeface="Architects Daughter"/>
              </a:rPr>
              <a:t>(1) TELEPHONY &amp;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1E1E1E"/>
                </a:solidFill>
                <a:latin typeface="Architects Daughter"/>
              </a:rPr>
              <a:t>MEDIA GATEWAY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FreeSWITCH + mod_audio_stream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SIP / RTP · forks call audio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thread-isolated per channel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216660"/>
            <a:ext cx="2834640" cy="2355596"/>
          </a:xfrm>
          <a:prstGeom prst="roundRect">
            <a:avLst>
              <a:gd name="adj" fmla="val 5000"/>
            </a:avLst>
          </a:prstGeom>
          <a:solidFill>
            <a:srgbClr val="A5D8FF"/>
          </a:solidFill>
          <a:ln w="44450">
            <a:solidFill>
              <a:srgbClr val="1971C2"/>
            </a:solidFill>
            <a:extLst>
              <a:ext uri="{C807C97D-BFC1-408E-A445-0C87EB9F89A2}">
                <ns1:lineSketchStyleProps xmlns:ns1="http://schemas.microsoft.com/office/drawing/2018/sketchyshapes" sd="1799175486">
                  <ns1:type>
                    <ns1:lineSketchFreehand/>
                  </ns1:type>
                </ns1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500" b="1">
                <a:solidFill>
                  <a:srgbClr val="1971C2"/>
                </a:solidFill>
                <a:latin typeface="Architects Daughter"/>
              </a:rPr>
              <a:t>(2) STREAMING BRIDGE</a:t>
            </a:r>
          </a:p>
          <a:p>
            <a:pPr algn="ctr">
              <a:spcBef>
                <a:spcPts val="200"/>
              </a:spcBef>
            </a:pPr>
            <a:r>
              <a:rPr sz="1500" b="1">
                <a:solidFill>
                  <a:srgbClr val="1971C2"/>
                </a:solidFill>
                <a:latin typeface="Architects Daughter"/>
              </a:rPr>
              <a:t>gRPC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1971C2"/>
                </a:solidFill>
                <a:latin typeface="Architects Daughter"/>
              </a:rPr>
              <a:t>MY COMPONENT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1E1E1E"/>
                </a:solidFill>
                <a:latin typeface="Architects Daughter"/>
              </a:rPr>
              <a:t>normalise · session state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1E1E1E"/>
                </a:solidFill>
                <a:latin typeface="Architects Daughter"/>
              </a:rPr>
              <a:t>buffer · window · transport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1E1E1E"/>
                </a:solidFill>
                <a:latin typeface="Architects Daughter"/>
              </a:rPr>
              <a:t>reorder · fan-out · degrade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02552" y="1308100"/>
            <a:ext cx="2331720" cy="2172715"/>
          </a:xfrm>
          <a:prstGeom prst="roundRect">
            <a:avLst>
              <a:gd name="adj" fmla="val 5000"/>
            </a:avLst>
          </a:prstGeom>
          <a:solidFill>
            <a:srgbClr val="F5F2EC"/>
          </a:solidFill>
          <a:ln w="28575">
            <a:solidFill>
              <a:srgbClr val="1E1E1E"/>
            </a:solidFill>
            <a:extLst>
              <a:ext uri="{C807C97D-BFC1-408E-A445-0C87EB9F89A2}">
                <ns2:lineSketchStyleProps xmlns:ns2="http://schemas.microsoft.com/office/drawing/2018/sketchyshapes" sd="1799183405">
                  <ns2:type>
                    <ns2:lineSketchFreehand/>
                  </ns2:type>
                </ns2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300" b="1">
                <a:solidFill>
                  <a:srgbClr val="1E1E1E"/>
                </a:solidFill>
                <a:latin typeface="Architects Daughter"/>
              </a:rPr>
              <a:t>(3) AI &amp; DSP ENGINE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WavLM + LFCC/MGD fusion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Silero VAD · ECAPA-TDNN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RTF &lt;= 0.1 target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dev EER 0.55% in-domain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56064" y="1308100"/>
            <a:ext cx="2148840" cy="2172715"/>
          </a:xfrm>
          <a:prstGeom prst="roundRect">
            <a:avLst>
              <a:gd name="adj" fmla="val 5000"/>
            </a:avLst>
          </a:prstGeom>
          <a:solidFill>
            <a:srgbClr val="F5F2EC"/>
          </a:solidFill>
          <a:ln w="28575">
            <a:solidFill>
              <a:srgbClr val="1E1E1E"/>
            </a:solidFill>
            <a:extLst>
              <a:ext uri="{C807C97D-BFC1-408E-A445-0C87EB9F89A2}">
                <ns3:lineSketchStyleProps xmlns:ns3="http://schemas.microsoft.com/office/drawing/2018/sketchyshapes" sd="1799191324">
                  <ns3:type>
                    <ns3:lineSketchFreehand/>
                  </ns3:type>
                </ns3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300" b="1">
                <a:solidFill>
                  <a:srgbClr val="1E1E1E"/>
                </a:solidFill>
                <a:latin typeface="Architects Daughter"/>
              </a:rPr>
              <a:t>(4) RISK ENGINE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1E1E1E"/>
                </a:solidFill>
                <a:latin typeface="Architects Daughter"/>
              </a:rPr>
              <a:t>+ DASHBOARD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weighted multi-signal fusion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dynamic thresholds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prevention + CRM webhooks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394458"/>
            <a:ext cx="475488" cy="0"/>
          </a:xfrm>
          <a:prstGeom prst="line">
            <a:avLst/>
          </a:prstGeom>
          <a:ln w="41275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79191" y="2065274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5C5650"/>
                </a:solidFill>
                <a:latin typeface="Architects Daughter"/>
              </a:rPr>
              <a:t>L16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53912" y="2156714"/>
            <a:ext cx="475488" cy="0"/>
          </a:xfrm>
          <a:prstGeom prst="line">
            <a:avLst/>
          </a:prstGeom>
          <a:ln w="41275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135624" y="1827529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5C5650"/>
                </a:solidFill>
                <a:latin typeface="Architects Daughter"/>
              </a:rPr>
              <a:t>windows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6153912" y="2632201"/>
            <a:ext cx="475488" cy="0"/>
          </a:xfrm>
          <a:prstGeom prst="line">
            <a:avLst/>
          </a:prstGeom>
          <a:ln w="41275">
            <a:solidFill>
              <a:srgbClr val="9C36B5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35624" y="2705354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9C36B5"/>
                </a:solidFill>
                <a:latin typeface="Architects Daughter"/>
              </a:rPr>
              <a:t>scores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07424" y="2394458"/>
            <a:ext cx="475488" cy="0"/>
          </a:xfrm>
          <a:prstGeom prst="line">
            <a:avLst/>
          </a:prstGeom>
          <a:ln w="41275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089136" y="2065274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5C5650"/>
                </a:solidFill>
                <a:latin typeface="Architects Daughter"/>
              </a:rPr>
              <a:t>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681983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971C2"/>
                </a:solidFill>
                <a:latin typeface="Architects Daughter"/>
              </a:rPr>
              <a:t>FOUR INTERFACE CONTRACTS</a:t>
            </a:r>
            <a:r>
              <a:rPr sz="950" b="0">
                <a:solidFill>
                  <a:srgbClr val="5C5650"/>
                </a:solidFill>
                <a:latin typeface="Architects Daughter"/>
              </a:rPr>
              <a:t>   — agree these before anyone writes code; changing one later costs all four of 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3956303"/>
            <a:ext cx="2724912" cy="2032000"/>
          </a:xfrm>
          <a:prstGeom prst="roundRect">
            <a:avLst>
              <a:gd name="adj" fmla="val 5000"/>
            </a:avLst>
          </a:prstGeom>
          <a:solidFill>
            <a:srgbClr val="E7F2FC"/>
          </a:solidFill>
          <a:ln w="25400">
            <a:solidFill>
              <a:srgbClr val="1971C2"/>
            </a:solidFill>
            <a:extLst>
              <a:ext uri="{C807C97D-BFC1-408E-A445-0C87EB9F89A2}">
                <ns4:lineSketchStyleProps xmlns:ns4="http://schemas.microsoft.com/office/drawing/2018/sketchyshapes" sd="1799199243">
                  <ns4:type>
                    <ns4:lineSketchFreehand/>
                  </ns4:type>
                </ns4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50" b="1">
                <a:solidFill>
                  <a:srgbClr val="1971C2"/>
                </a:solidFill>
                <a:latin typeface="Architects Daughter"/>
              </a:rPr>
              <a:t>CONTRACT A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E1E1E"/>
                </a:solidFill>
                <a:latin typeface="Architects Daughter"/>
              </a:rPr>
              <a:t>Gateway  -&gt;  Bridge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session_id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server-issued or HMAC-signed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encoding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L16_LE / L16_BE / PCMU / PCMA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sample_rate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8000 or 16000 — never assumed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channels + leg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mono only; 2 legs = 2 sessions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sample_offset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the authoritative clock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concealed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true if gateway invented the audio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consent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DPDP gate — no consent, no audio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OPEN Q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is your L16 big- or little-endian? Byte-swapped PCM is loud noise and the detector will confidently call it synthetic.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55264" y="3956303"/>
            <a:ext cx="2724912" cy="2032000"/>
          </a:xfrm>
          <a:prstGeom prst="roundRect">
            <a:avLst>
              <a:gd name="adj" fmla="val 5000"/>
            </a:avLst>
          </a:prstGeom>
          <a:solidFill>
            <a:srgbClr val="F8EFFB"/>
          </a:solidFill>
          <a:ln w="25400">
            <a:solidFill>
              <a:srgbClr val="9C36B5"/>
            </a:solidFill>
            <a:extLst>
              <a:ext uri="{C807C97D-BFC1-408E-A445-0C87EB9F89A2}">
                <ns5:lineSketchStyleProps xmlns:ns5="http://schemas.microsoft.com/office/drawing/2018/sketchyshapes" sd="1799207162">
                  <ns5:type>
                    <ns5:lineSketchFreehand/>
                  </ns5:type>
                </ns5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50" b="1">
                <a:solidFill>
                  <a:srgbClr val="9C36B5"/>
                </a:solidFill>
                <a:latin typeface="Architects Daughter"/>
              </a:rPr>
              <a:t>CONTRACT B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E1E1E"/>
                </a:solidFill>
                <a:latin typeface="Architects Daughter"/>
              </a:rPr>
              <a:t>Bridge  &lt;-&gt;  AI Engine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AudioChunk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pcm, window_seq, sample_offset, gap_before, partial, session_epoch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RiskScoreUpdate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window_seq ECHOED back, model_version, status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why echoed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out-of-order results are otherwise unrecoverable on my side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batch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always 1 — Dhwani silently collapses batches to one result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deadline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400 ms; on breach the window is abandoned, never retried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pooling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80 streams/conn — HTTP/2 caps at 100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956303"/>
            <a:ext cx="2724912" cy="2032000"/>
          </a:xfrm>
          <a:prstGeom prst="roundRect">
            <a:avLst>
              <a:gd name="adj" fmla="val 5000"/>
            </a:avLst>
          </a:prstGeom>
          <a:solidFill>
            <a:srgbClr val="EEFBF1"/>
          </a:solidFill>
          <a:ln w="25400">
            <a:solidFill>
              <a:srgbClr val="2F9E44"/>
            </a:solidFill>
            <a:extLst>
              <a:ext uri="{C807C97D-BFC1-408E-A445-0C87EB9F89A2}">
                <ns6:lineSketchStyleProps xmlns:ns6="http://schemas.microsoft.com/office/drawing/2018/sketchyshapes" sd="1799215081">
                  <ns6:type>
                    <ns6:lineSketchFreehand/>
                  </ns6:type>
                </ns6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50" b="1">
                <a:solidFill>
                  <a:srgbClr val="2F9E44"/>
                </a:solidFill>
                <a:latin typeface="Architects Daughter"/>
              </a:rPr>
              <a:t>CONTRACT C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E1E1E"/>
                </a:solidFill>
                <a:latin typeface="Architects Daughter"/>
              </a:rPr>
              <a:t>Bridge  -&gt;  Risk Engine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ordering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monotonic window_seq, deduplicated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gaps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gap_before=true resets any smoothing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status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OK / SKIPPED_SILENCE / DEGRADED / DETECTOR_UNAVAILABLE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critical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a missing signal must renormalise, never be substituted with 0.0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OPEN Q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on DETECTOR_UNAVAILABLE do you renormalise or hold the last score?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cadence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10 scores/sec at L0, fewer when degraded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3956303"/>
            <a:ext cx="2724912" cy="2032000"/>
          </a:xfrm>
          <a:prstGeom prst="roundRect">
            <a:avLst>
              <a:gd name="adj" fmla="val 5000"/>
            </a:avLst>
          </a:prstGeom>
          <a:solidFill>
            <a:srgbClr val="FFF8E6"/>
          </a:solidFill>
          <a:ln w="25400">
            <a:solidFill>
              <a:srgbClr val="F08C00"/>
            </a:solidFill>
            <a:extLst>
              <a:ext uri="{C807C97D-BFC1-408E-A445-0C87EB9F89A2}">
                <ns7:lineSketchStyleProps xmlns:ns7="http://schemas.microsoft.com/office/drawing/2018/sketchyshapes" sd="1799223000">
                  <ns7:type>
                    <ns7:lineSketchFreehand/>
                  </ns7:type>
                </ns7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50" b="1">
                <a:solidFill>
                  <a:srgbClr val="F08C00"/>
                </a:solidFill>
                <a:latin typeface="Architects Daughter"/>
              </a:rPr>
              <a:t>CONTRACT D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E1E1E"/>
                </a:solidFill>
                <a:latin typeface="Architects Daughter"/>
              </a:rPr>
              <a:t>Bridge  -&gt;  Dashboard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transport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best-effort WebSocket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delivery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lossy by design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rule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never in the critical path; must never apply backpressure that reaches audio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why lossy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a dashboard that can slow the audio path is a dashboard that can drop fraud detection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reconnect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client resumes, no server state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cardinality  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no per-session metric labels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" y="6134608"/>
            <a:ext cx="11420856" cy="478028"/>
          </a:xfrm>
          <a:prstGeom prst="roundRect">
            <a:avLst>
              <a:gd name="adj" fmla="val 5000"/>
            </a:avLst>
          </a:prstGeom>
          <a:solidFill>
            <a:srgbClr val="FFF0EF"/>
          </a:solidFill>
          <a:ln w="25400">
            <a:solidFill>
              <a:srgbClr val="E03131"/>
            </a:solidFill>
            <a:extLst>
              <a:ext uri="{C807C97D-BFC1-408E-A445-0C87EB9F89A2}">
                <ns8:lineSketchStyleProps xmlns:ns8="http://schemas.microsoft.com/office/drawing/2018/sketchyshapes" sd="1799230919">
                  <ns8:type>
                    <ns8:lineSketchFreehand/>
                  </ns8:type>
                </ns8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000" b="1">
                <a:solidFill>
                  <a:srgbClr val="E03131"/>
                </a:solidFill>
                <a:latin typeface="Architects Daughter"/>
              </a:rPr>
              <a:t>CORE CONSTRAINT   </a:t>
            </a:r>
            <a:r>
              <a:rPr sz="1000" b="0">
                <a:solidFill>
                  <a:srgbClr val="1E1E1E"/>
                </a:solidFill>
                <a:latin typeface="Architects Daughter"/>
              </a:rPr>
              <a:t>Every other service in this system can tell its upstream to slow down. A phone call cannot be paused.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5C5650"/>
                </a:solidFill>
                <a:latin typeface="Architects Daughter"/>
              </a:rPr>
              <a:t>Everything else — the ring buffer, the drop-oldest policy, the adaptive hop, the whole degradation ladder — is a consequence of that one fact.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28016"/>
            <a:ext cx="11430000" cy="531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E1E1E"/>
                </a:solidFill>
                <a:latin typeface="Architects Daughter"/>
              </a:rPr>
              <a:t>Inside the Bridge</a:t>
            </a:r>
            <a:r>
              <a:rPr sz="2400" b="0">
                <a:solidFill>
                  <a:srgbClr val="1971C2"/>
                </a:solidFill>
                <a:latin typeface="Architects Daughter"/>
              </a:rPr>
              <a:t>  —  Eight Stages, One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95960"/>
            <a:ext cx="11430000" cy="3187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5C5650"/>
                </a:solidFill>
                <a:latin typeface="Architects Daughter"/>
              </a:rPr>
              <a:t>N dissimilar transports become one canonical PCM timeline; that timeline becomes fixed windows the model was trained to expect.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142746"/>
            <a:ext cx="1783080" cy="11049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E1E1E"/>
            </a:solidFill>
            <a:extLst>
              <a:ext uri="{C807C97D-BFC1-408E-A445-0C87EB9F89A2}">
                <ns0:lineSketchStyleProps xmlns:ns0="http://schemas.microsoft.com/office/drawing/2018/sketchyshapes" sd="1799238838">
                  <ns0:type>
                    <ns0:lineSketchFreehand/>
                  </ns0:type>
                </ns0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100" b="1">
                <a:solidFill>
                  <a:srgbClr val="1E1E1E"/>
                </a:solidFill>
                <a:latin typeface="Architects Daughter"/>
              </a:rPr>
              <a:t>FreeSWITCH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WebSocket · L16 binary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8 or 16 kHz · primary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2430526"/>
            <a:ext cx="1783080" cy="11049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E1E1E"/>
            </a:solidFill>
            <a:extLst>
              <a:ext uri="{C807C97D-BFC1-408E-A445-0C87EB9F89A2}">
                <ns1:lineSketchStyleProps xmlns:ns1="http://schemas.microsoft.com/office/drawing/2018/sketchyshapes" sd="1799246757">
                  <ns1:type>
                    <ns1:lineSketchFreehand/>
                  </ns1:type>
                </ns1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100" b="1">
                <a:solidFill>
                  <a:srgbClr val="1E1E1E"/>
                </a:solidFill>
                <a:latin typeface="Architects Daughter"/>
              </a:rPr>
              <a:t>Asterisk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TCP · AudioSocket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length-prefixed framing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3718305"/>
            <a:ext cx="1783080" cy="11049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E1E1E"/>
            </a:solidFill>
            <a:extLst>
              <a:ext uri="{C807C97D-BFC1-408E-A445-0C87EB9F89A2}">
                <ns2:lineSketchStyleProps xmlns:ns2="http://schemas.microsoft.com/office/drawing/2018/sketchyshapes" sd="1799254676">
                  <ns2:type>
                    <ns2:lineSketchFreehand/>
                  </ns2:type>
                </ns2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100" b="1">
                <a:solidFill>
                  <a:srgbClr val="1E1E1E"/>
                </a:solidFill>
                <a:latin typeface="Architects Daughter"/>
              </a:rPr>
              <a:t>Twilio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WSS · base64 JSON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G.711 mu-law 8 kHz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43330"/>
            <a:ext cx="1435608" cy="2064004"/>
          </a:xfrm>
          <a:prstGeom prst="roundRect">
            <a:avLst>
              <a:gd name="adj" fmla="val 5000"/>
            </a:avLst>
          </a:prstGeom>
          <a:solidFill>
            <a:srgbClr val="A5D8FF"/>
          </a:solidFill>
          <a:ln w="38100">
            <a:solidFill>
              <a:srgbClr val="1971C2"/>
            </a:solidFill>
            <a:extLst>
              <a:ext uri="{C807C97D-BFC1-408E-A445-0C87EB9F89A2}">
                <ns3:lineSketchStyleProps xmlns:ns3="http://schemas.microsoft.com/office/drawing/2018/sketchyshapes" sd="1799262595">
                  <ns3:type>
                    <ns3:lineSketchFreehand/>
                  </ns3:type>
                </ns3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1050" b="1">
                <a:solidFill>
                  <a:srgbClr val="1971C2"/>
                </a:solidFill>
                <a:latin typeface="Architects Daughter"/>
              </a:rPr>
              <a:t>INGRESS ADAPTERS</a:t>
            </a:r>
          </a:p>
          <a:p>
            <a:pPr algn="ctr"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N formats -&gt; 1 frame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decode · mono · 16 kHz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soxr VHQ resample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endianness validated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same path as training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78808" y="2275332"/>
            <a:ext cx="384048" cy="0"/>
          </a:xfrm>
          <a:prstGeom prst="line">
            <a:avLst/>
          </a:prstGeom>
          <a:ln w="38100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08576" y="1243330"/>
            <a:ext cx="1435608" cy="2064004"/>
          </a:xfrm>
          <a:prstGeom prst="roundRect">
            <a:avLst>
              <a:gd name="adj" fmla="val 5000"/>
            </a:avLst>
          </a:prstGeom>
          <a:solidFill>
            <a:srgbClr val="A5D8FF"/>
          </a:solidFill>
          <a:ln w="38100">
            <a:solidFill>
              <a:srgbClr val="1971C2"/>
            </a:solidFill>
            <a:extLst>
              <a:ext uri="{C807C97D-BFC1-408E-A445-0C87EB9F89A2}">
                <ns4:lineSketchStyleProps xmlns:ns4="http://schemas.microsoft.com/office/drawing/2018/sketchyshapes" sd="1799270514">
                  <ns4:type>
                    <ns4:lineSketchFreehand/>
                  </ns4:type>
                </ns4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1050" b="1">
                <a:solidFill>
                  <a:srgbClr val="1971C2"/>
                </a:solidFill>
                <a:latin typeface="Architects Daughter"/>
              </a:rPr>
              <a:t>SESSION MANAGER</a:t>
            </a:r>
          </a:p>
          <a:p>
            <a:pPr algn="ctr"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lifecycle + fencing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Redis epoch token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consent gate (DPDP)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resume within 15 s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2nd claimant rejected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9904" y="2275332"/>
            <a:ext cx="384048" cy="0"/>
          </a:xfrm>
          <a:prstGeom prst="line">
            <a:avLst/>
          </a:prstGeom>
          <a:ln w="38100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519672" y="1243330"/>
            <a:ext cx="1435608" cy="2064004"/>
          </a:xfrm>
          <a:prstGeom prst="roundRect">
            <a:avLst>
              <a:gd name="adj" fmla="val 5000"/>
            </a:avLst>
          </a:prstGeom>
          <a:solidFill>
            <a:srgbClr val="A5D8FF"/>
          </a:solidFill>
          <a:ln w="38100">
            <a:solidFill>
              <a:srgbClr val="1971C2"/>
            </a:solidFill>
            <a:extLst>
              <a:ext uri="{C807C97D-BFC1-408E-A445-0C87EB9F89A2}">
                <ns5:lineSketchStyleProps xmlns:ns5="http://schemas.microsoft.com/office/drawing/2018/sketchyshapes" sd="1799278433">
                  <ns5:type>
                    <ns5:lineSketchFreehand/>
                  </ns5:type>
                </ns5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1050" b="1">
                <a:solidFill>
                  <a:srgbClr val="1971C2"/>
                </a:solidFill>
                <a:latin typeface="Architects Daughter"/>
              </a:rPr>
              <a:t>RING BUFFER</a:t>
            </a:r>
          </a:p>
          <a:p>
            <a:pPr algn="ctr"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bounded 256 KB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jitter absorb 60 ms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drop OLDEST on full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never blocks ingest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1 producer, 1 consumer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0" y="2275332"/>
            <a:ext cx="384047" cy="0"/>
          </a:xfrm>
          <a:prstGeom prst="line">
            <a:avLst/>
          </a:prstGeom>
          <a:ln w="38100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30767" y="1243330"/>
            <a:ext cx="1435608" cy="2064004"/>
          </a:xfrm>
          <a:prstGeom prst="roundRect">
            <a:avLst>
              <a:gd name="adj" fmla="val 5000"/>
            </a:avLst>
          </a:prstGeom>
          <a:solidFill>
            <a:srgbClr val="A5D8FF"/>
          </a:solidFill>
          <a:ln w="38100">
            <a:solidFill>
              <a:srgbClr val="1971C2"/>
            </a:solidFill>
            <a:extLst>
              <a:ext uri="{C807C97D-BFC1-408E-A445-0C87EB9F89A2}">
                <ns6:lineSketchStyleProps xmlns:ns6="http://schemas.microsoft.com/office/drawing/2018/sketchyshapes" sd="1799286352">
                  <ns6:type>
                    <ns6:lineSketchFreehand/>
                  </ns6:type>
                </ns6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1050" b="1">
                <a:solidFill>
                  <a:srgbClr val="1971C2"/>
                </a:solidFill>
                <a:latin typeface="Architects Daughter"/>
              </a:rPr>
              <a:t>WINDOWER</a:t>
            </a:r>
          </a:p>
          <a:p>
            <a:pPr algn="ctr"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2.0 s / 100 ms hop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sample-accurate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VAD-gated (~40% saved)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length from checkpoint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hop by samples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12096" y="2275332"/>
            <a:ext cx="384047" cy="0"/>
          </a:xfrm>
          <a:prstGeom prst="line">
            <a:avLst/>
          </a:prstGeom>
          <a:ln w="38100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341863" y="1243330"/>
            <a:ext cx="1435608" cy="2064004"/>
          </a:xfrm>
          <a:prstGeom prst="roundRect">
            <a:avLst>
              <a:gd name="adj" fmla="val 5000"/>
            </a:avLst>
          </a:prstGeom>
          <a:solidFill>
            <a:srgbClr val="EEBEFA"/>
          </a:solidFill>
          <a:ln w="38100">
            <a:solidFill>
              <a:srgbClr val="9C36B5"/>
            </a:solidFill>
            <a:extLst>
              <a:ext uri="{C807C97D-BFC1-408E-A445-0C87EB9F89A2}">
                <ns7:lineSketchStyleProps xmlns:ns7="http://schemas.microsoft.com/office/drawing/2018/sketchyshapes" sd="1799294271">
                  <ns7:type>
                    <ns7:lineSketchFreehand/>
                  </ns7:type>
                </ns7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1050" b="1">
                <a:solidFill>
                  <a:srgbClr val="9C36B5"/>
                </a:solidFill>
                <a:latin typeface="Architects Daughter"/>
              </a:rPr>
              <a:t>gRPC POOL</a:t>
            </a:r>
          </a:p>
          <a:p>
            <a:pPr algn="ctr"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bidi stream · batch=1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80 streams per conn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400 ms deadline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retry on NEW stream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keepalive &lt; LB idle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21992" y="1695196"/>
            <a:ext cx="420624" cy="580136"/>
          </a:xfrm>
          <a:prstGeom prst="line">
            <a:avLst/>
          </a:prstGeom>
          <a:ln w="31750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221992" y="2275332"/>
            <a:ext cx="420624" cy="707644"/>
          </a:xfrm>
          <a:prstGeom prst="line">
            <a:avLst/>
          </a:prstGeom>
          <a:ln w="31750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221992" y="2275332"/>
            <a:ext cx="420624" cy="1995424"/>
          </a:xfrm>
          <a:prstGeom prst="line">
            <a:avLst/>
          </a:prstGeom>
          <a:ln w="31750">
            <a:solidFill>
              <a:srgbClr val="1E1E1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341863" y="3727958"/>
            <a:ext cx="1435608" cy="778256"/>
          </a:xfrm>
          <a:prstGeom prst="roundRect">
            <a:avLst>
              <a:gd name="adj" fmla="val 5000"/>
            </a:avLst>
          </a:prstGeom>
          <a:solidFill>
            <a:srgbClr val="A5D8FF"/>
          </a:solidFill>
          <a:ln w="31750">
            <a:solidFill>
              <a:srgbClr val="1971C2"/>
            </a:solidFill>
            <a:extLst>
              <a:ext uri="{C807C97D-BFC1-408E-A445-0C87EB9F89A2}">
                <ns8:lineSketchStyleProps xmlns:ns8="http://schemas.microsoft.com/office/drawing/2018/sketchyshapes" sd="1799302190">
                  <ns8:type>
                    <ns8:lineSketchFreehand/>
                  </ns8:type>
                </ns8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000" b="1">
                <a:solidFill>
                  <a:srgbClr val="1971C2"/>
                </a:solidFill>
                <a:latin typeface="Architects Daughter"/>
              </a:rPr>
              <a:t>REORDER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by window_seq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300 ms bounded wait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9912096" y="4117086"/>
            <a:ext cx="384047" cy="0"/>
          </a:xfrm>
          <a:prstGeom prst="line">
            <a:avLst/>
          </a:prstGeom>
          <a:ln w="38100">
            <a:solidFill>
              <a:srgbClr val="9C36B5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30767" y="3727958"/>
            <a:ext cx="1435608" cy="778256"/>
          </a:xfrm>
          <a:prstGeom prst="roundRect">
            <a:avLst>
              <a:gd name="adj" fmla="val 5000"/>
            </a:avLst>
          </a:prstGeom>
          <a:solidFill>
            <a:srgbClr val="A5D8FF"/>
          </a:solidFill>
          <a:ln w="31750">
            <a:solidFill>
              <a:srgbClr val="1971C2"/>
            </a:solidFill>
            <a:extLst>
              <a:ext uri="{C807C97D-BFC1-408E-A445-0C87EB9F89A2}">
                <ns9:lineSketchStyleProps xmlns:ns9="http://schemas.microsoft.com/office/drawing/2018/sketchyshapes" sd="1799310109">
                  <ns9:type>
                    <ns9:lineSketchFreehand/>
                  </ns9:type>
                </ns9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000" b="1">
                <a:solidFill>
                  <a:srgbClr val="1971C2"/>
                </a:solidFill>
                <a:latin typeface="Architects Daughter"/>
              </a:rPr>
              <a:t>FAN-OUT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dedupe · annotate gaps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risk / dash / CRM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8001000" y="4117086"/>
            <a:ext cx="384047" cy="0"/>
          </a:xfrm>
          <a:prstGeom prst="line">
            <a:avLst/>
          </a:prstGeom>
          <a:ln w="38100">
            <a:solidFill>
              <a:srgbClr val="9C36B5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519671" y="3727958"/>
            <a:ext cx="1435608" cy="778256"/>
          </a:xfrm>
          <a:prstGeom prst="roundRect">
            <a:avLst>
              <a:gd name="adj" fmla="val 5000"/>
            </a:avLst>
          </a:prstGeom>
          <a:solidFill>
            <a:srgbClr val="F5F2EC"/>
          </a:solidFill>
          <a:ln w="31750">
            <a:solidFill>
              <a:srgbClr val="1E1E1E"/>
            </a:solidFill>
            <a:extLst>
              <a:ext uri="{C807C97D-BFC1-408E-A445-0C87EB9F89A2}">
                <ns10:lineSketchStyleProps xmlns:ns10="http://schemas.microsoft.com/office/drawing/2018/sketchyshapes" sd="1799318028">
                  <ns10:type>
                    <ns10:lineSketchFreehand/>
                  </ns10:type>
                </ns10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000" b="1">
                <a:solidFill>
                  <a:srgbClr val="1E1E1E"/>
                </a:solidFill>
                <a:latin typeface="Architects Daughter"/>
              </a:rPr>
              <a:t>(4) RISK ENGINE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weighted fusion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prevention actions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6089903" y="4117086"/>
            <a:ext cx="384048" cy="0"/>
          </a:xfrm>
          <a:prstGeom prst="line">
            <a:avLst/>
          </a:prstGeom>
          <a:ln w="38100">
            <a:solidFill>
              <a:srgbClr val="9C36B5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059667" y="3362198"/>
            <a:ext cx="0" cy="310896"/>
          </a:xfrm>
          <a:prstGeom prst="line">
            <a:avLst/>
          </a:prstGeom>
          <a:ln w="38100">
            <a:solidFill>
              <a:srgbClr val="9C36B5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236708" y="343535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9C36B5"/>
                </a:solidFill>
                <a:latin typeface="Architects Daughter"/>
              </a:rPr>
              <a:t>scores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817110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971C2"/>
                </a:solidFill>
                <a:latin typeface="Architects Daughter"/>
              </a:rPr>
              <a:t>THREE DECISIONS THAT DETERMINE WHETHER THIS SCALES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4048" y="5073142"/>
            <a:ext cx="3712463" cy="1158748"/>
          </a:xfrm>
          <a:prstGeom prst="roundRect">
            <a:avLst>
              <a:gd name="adj" fmla="val 5000"/>
            </a:avLst>
          </a:prstGeom>
          <a:solidFill>
            <a:srgbClr val="E7F2FC"/>
          </a:solidFill>
          <a:ln w="25400">
            <a:solidFill>
              <a:srgbClr val="1971C2"/>
            </a:solidFill>
            <a:extLst>
              <a:ext uri="{C807C97D-BFC1-408E-A445-0C87EB9F89A2}">
                <ns11:lineSketchStyleProps xmlns:ns11="http://schemas.microsoft.com/office/drawing/2018/sketchyshapes" sd="1799325947">
                  <ns11:type>
                    <ns11:lineSketchFreehand/>
                  </ns11:type>
                </ns11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00" b="1">
                <a:solidFill>
                  <a:srgbClr val="1971C2"/>
                </a:solidFill>
                <a:latin typeface="Architects Daughter"/>
              </a:rPr>
              <a:t>CONCURRENCY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E1E1E"/>
                </a:solidFill>
                <a:latin typeface="Architects Daughter"/>
              </a:rPr>
              <a:t>One asyncio loop. No per-session threads.</a:t>
            </a:r>
          </a:p>
          <a:p>
            <a:pPr>
              <a:spcBef>
                <a:spcPts val="200"/>
              </a:spcBef>
            </a:pPr>
            <a:r>
              <a:rPr sz="800" b="0">
                <a:solidFill>
                  <a:srgbClr val="1E1E1E"/>
                </a:solidFill>
                <a:latin typeface="Architects Daughter"/>
              </a:rPr>
              <a:t>1,200 threads costs ~9.6 GB of stack before any audio is buffered, and collapses on context switching. Sessions are coroutines; each ring has exactly one producer and one consumer, so it needs no lock.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971C2"/>
                </a:solidFill>
                <a:latin typeface="Architects Daughter"/>
              </a:rPr>
              <a:t>Verified by: 1,200 concurrent sessions held for 30 min inside the latency budget.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42816" y="5073142"/>
            <a:ext cx="3712463" cy="1158748"/>
          </a:xfrm>
          <a:prstGeom prst="roundRect">
            <a:avLst>
              <a:gd name="adj" fmla="val 5000"/>
            </a:avLst>
          </a:prstGeom>
          <a:solidFill>
            <a:srgbClr val="F8EFFB"/>
          </a:solidFill>
          <a:ln w="25400">
            <a:solidFill>
              <a:srgbClr val="9C36B5"/>
            </a:solidFill>
            <a:extLst>
              <a:ext uri="{C807C97D-BFC1-408E-A445-0C87EB9F89A2}">
                <ns12:lineSketchStyleProps xmlns:ns12="http://schemas.microsoft.com/office/drawing/2018/sketchyshapes" sd="1799333866">
                  <ns12:type>
                    <ns12:lineSketchFreehand/>
                  </ns12:type>
                </ns12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00" b="1">
                <a:solidFill>
                  <a:srgbClr val="9C36B5"/>
                </a:solidFill>
                <a:latin typeface="Architects Daughter"/>
              </a:rPr>
              <a:t>THE CLOCK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E1E1E"/>
                </a:solidFill>
                <a:latin typeface="Architects Daughter"/>
              </a:rPr>
              <a:t>sample_offset is authoritative — not wall time.</a:t>
            </a:r>
          </a:p>
          <a:p>
            <a:pPr>
              <a:spcBef>
                <a:spcPts val="200"/>
              </a:spcBef>
            </a:pPr>
            <a:r>
              <a:rPr sz="800" b="0">
                <a:solidFill>
                  <a:srgbClr val="1E1E1E"/>
                </a:solidFill>
                <a:latin typeface="Architects Daughter"/>
              </a:rPr>
              <a:t>Wall clocks drift, jump on NTP and differ per pod. A gateway running at 8000.5 Hz against an assumed 8000 Hz accumulates 1.8 s of error per hour. Windowing must be reproducible.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9C36B5"/>
                </a:solidFill>
                <a:latin typeface="Architects Daughter"/>
              </a:rPr>
              <a:t>Verified by: sample_offset stays monotonic across an injected 300 ms gap and a reconnect.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5073142"/>
            <a:ext cx="3712463" cy="1158748"/>
          </a:xfrm>
          <a:prstGeom prst="roundRect">
            <a:avLst>
              <a:gd name="adj" fmla="val 5000"/>
            </a:avLst>
          </a:prstGeom>
          <a:solidFill>
            <a:srgbClr val="EEFBF1"/>
          </a:solidFill>
          <a:ln w="25400">
            <a:solidFill>
              <a:srgbClr val="2F9E44"/>
            </a:solidFill>
            <a:extLst>
              <a:ext uri="{C807C97D-BFC1-408E-A445-0C87EB9F89A2}">
                <ns13:lineSketchStyleProps xmlns:ns13="http://schemas.microsoft.com/office/drawing/2018/sketchyshapes" sd="1799341785">
                  <ns13:type>
                    <ns13:lineSketchFreehand/>
                  </ns13:type>
                </ns13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00" b="1">
                <a:solidFill>
                  <a:srgbClr val="2F9E44"/>
                </a:solidFill>
                <a:latin typeface="Architects Daughter"/>
              </a:rPr>
              <a:t>MEMORY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E1E1E"/>
                </a:solidFill>
                <a:latin typeface="Architects Daughter"/>
              </a:rPr>
              <a:t>256 KB per session, enforced.</a:t>
            </a:r>
          </a:p>
          <a:p>
            <a:pPr>
              <a:spcBef>
                <a:spcPts val="200"/>
              </a:spcBef>
            </a:pPr>
            <a:r>
              <a:rPr sz="800" b="0">
                <a:solidFill>
                  <a:srgbClr val="1E1E1E"/>
                </a:solidFill>
                <a:latin typeface="Architects Daughter"/>
              </a:rPr>
              <a:t>4 s ring x 16 kHz x 4 bytes = 256 KB. At 1,200 sessions that is ~300 MB. The same design with an unbounded per-session accumulator over a 1-hour call would be 690 GB.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2F9E44"/>
                </a:solidFill>
                <a:latin typeface="Architects Daughter"/>
              </a:rPr>
              <a:t>Verified by: 8-hour soak at 200 sessions — any upward memory slope is a per-session leak.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28016"/>
            <a:ext cx="11430000" cy="531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E1E1E"/>
                </a:solidFill>
                <a:latin typeface="Architects Daughter"/>
              </a:rPr>
              <a:t>Latency, Failure Handling</a:t>
            </a:r>
            <a:r>
              <a:rPr sz="2400" b="0">
                <a:solidFill>
                  <a:srgbClr val="1971C2"/>
                </a:solidFill>
                <a:latin typeface="Architects Daughter"/>
              </a:rPr>
              <a:t>  &amp;  the Edge Cases That Fail Silently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95960"/>
            <a:ext cx="11430000" cy="3187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5C5650"/>
                </a:solidFill>
                <a:latin typeface="Architects Daughter"/>
              </a:rPr>
              <a:t>Most failures are loud, and therefore cheap. The expensive ones produce plausible-looking numbers that are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42746"/>
            <a:ext cx="5632704" cy="3030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E1E1E"/>
                </a:solidFill>
                <a:latin typeface="Architects Daughter"/>
              </a:rPr>
              <a:t>500 ms END-TO-END SLA</a:t>
            </a:r>
            <a:r>
              <a:rPr sz="850" b="0">
                <a:solidFill>
                  <a:srgbClr val="5C5650"/>
                </a:solidFill>
                <a:latin typeface="Architects Daughter"/>
              </a:rPr>
              <a:t>   caller speaks -&gt; score delivered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398778"/>
            <a:ext cx="337962" cy="603504"/>
          </a:xfrm>
          <a:prstGeom prst="roundRect">
            <a:avLst>
              <a:gd name="adj" fmla="val 2000"/>
            </a:avLst>
          </a:prstGeom>
          <a:solidFill>
            <a:srgbClr val="F5F2EC"/>
          </a:solidFill>
          <a:ln w="19050">
            <a:solidFill>
              <a:srgbClr val="1E1E1E"/>
            </a:solidFill>
            <a:extLst>
              <a:ext uri="{C807C97D-BFC1-408E-A445-0C87EB9F89A2}">
                <ns0:lineSketchStyleProps xmlns:ns0="http://schemas.microsoft.com/office/drawing/2018/sketchyshapes" sd="1799349704">
                  <ns0:type>
                    <ns0:lineSketchFreehand/>
                  </ns0:type>
                </ns0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010" y="1398778"/>
            <a:ext cx="56327" cy="603504"/>
          </a:xfrm>
          <a:prstGeom prst="roundRect">
            <a:avLst>
              <a:gd name="adj" fmla="val 2000"/>
            </a:avLst>
          </a:prstGeom>
          <a:solidFill>
            <a:srgbClr val="F5F2EC"/>
          </a:solidFill>
          <a:ln w="19050">
            <a:solidFill>
              <a:srgbClr val="1E1E1E"/>
            </a:solidFill>
            <a:extLst>
              <a:ext uri="{C807C97D-BFC1-408E-A445-0C87EB9F89A2}">
                <ns1:lineSketchStyleProps xmlns:ns1="http://schemas.microsoft.com/office/drawing/2018/sketchyshapes" sd="1799357623">
                  <ns1:type>
                    <ns1:lineSketchFreehand/>
                  </ns1:type>
                </ns1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8337" y="1398778"/>
            <a:ext cx="675924" cy="603504"/>
          </a:xfrm>
          <a:prstGeom prst="roundRect">
            <a:avLst>
              <a:gd name="adj" fmla="val 2000"/>
            </a:avLst>
          </a:prstGeom>
          <a:solidFill>
            <a:srgbClr val="B2F2BB"/>
          </a:solidFill>
          <a:ln w="19050">
            <a:solidFill>
              <a:srgbClr val="2F9E44"/>
            </a:solidFill>
            <a:extLst>
              <a:ext uri="{C807C97D-BFC1-408E-A445-0C87EB9F89A2}">
                <ns2:lineSketchStyleProps xmlns:ns2="http://schemas.microsoft.com/office/drawing/2018/sketchyshapes" sd="1799365542">
                  <ns2:type>
                    <ns2:lineSketchFreehand/>
                  </ns2:type>
                </ns2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000" b="1">
                <a:solidFill>
                  <a:srgbClr val="1E1E1E"/>
                </a:solidFill>
                <a:latin typeface="Architects Daughter"/>
              </a:rPr>
              <a:t>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54261" y="1398778"/>
            <a:ext cx="1126540" cy="603504"/>
          </a:xfrm>
          <a:prstGeom prst="roundRect">
            <a:avLst>
              <a:gd name="adj" fmla="val 2000"/>
            </a:avLst>
          </a:prstGeom>
          <a:solidFill>
            <a:srgbClr val="A5D8FF"/>
          </a:solidFill>
          <a:ln w="19050">
            <a:solidFill>
              <a:srgbClr val="1971C2"/>
            </a:solidFill>
            <a:extLst>
              <a:ext uri="{C807C97D-BFC1-408E-A445-0C87EB9F89A2}">
                <ns3:lineSketchStyleProps xmlns:ns3="http://schemas.microsoft.com/office/drawing/2018/sketchyshapes" sd="1799373461">
                  <ns3:type>
                    <ns3:lineSketchFreehand/>
                  </ns3:type>
                </ns3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000" b="1">
                <a:solidFill>
                  <a:srgbClr val="1E1E1E"/>
                </a:solidFill>
                <a:latin typeface="Architects Daughter"/>
              </a:rPr>
              <a:t>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80802" y="1398778"/>
            <a:ext cx="112654" cy="603504"/>
          </a:xfrm>
          <a:prstGeom prst="roundRect">
            <a:avLst>
              <a:gd name="adj" fmla="val 2000"/>
            </a:avLst>
          </a:prstGeom>
          <a:solidFill>
            <a:srgbClr val="F5F2EC"/>
          </a:solidFill>
          <a:ln w="19050">
            <a:solidFill>
              <a:srgbClr val="1E1E1E"/>
            </a:solidFill>
            <a:extLst>
              <a:ext uri="{C807C97D-BFC1-408E-A445-0C87EB9F89A2}">
                <ns4:lineSketchStyleProps xmlns:ns4="http://schemas.microsoft.com/office/drawing/2018/sketchyshapes" sd="1799381380">
                  <ns4:type>
                    <ns4:lineSketchFreehand/>
                  </ns4:type>
                </ns4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3456" y="1398778"/>
            <a:ext cx="2253081" cy="603504"/>
          </a:xfrm>
          <a:prstGeom prst="roundRect">
            <a:avLst>
              <a:gd name="adj" fmla="val 2000"/>
            </a:avLst>
          </a:prstGeom>
          <a:solidFill>
            <a:srgbClr val="EEBEFA"/>
          </a:solidFill>
          <a:ln w="19050">
            <a:solidFill>
              <a:srgbClr val="9C36B5"/>
            </a:solidFill>
            <a:extLst>
              <a:ext uri="{C807C97D-BFC1-408E-A445-0C87EB9F89A2}">
                <ns5:lineSketchStyleProps xmlns:ns5="http://schemas.microsoft.com/office/drawing/2018/sketchyshapes" sd="1799389299">
                  <ns5:type>
                    <ns5:lineSketchFreehand/>
                  </ns5:type>
                </ns5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000" b="1">
                <a:solidFill>
                  <a:srgbClr val="1E1E1E"/>
                </a:solidFill>
                <a:latin typeface="Architects Daughter"/>
              </a:rPr>
              <a:t>200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46538" y="1398778"/>
            <a:ext cx="225308" cy="603504"/>
          </a:xfrm>
          <a:prstGeom prst="roundRect">
            <a:avLst>
              <a:gd name="adj" fmla="val 2000"/>
            </a:avLst>
          </a:prstGeom>
          <a:solidFill>
            <a:srgbClr val="A5D8FF"/>
          </a:solidFill>
          <a:ln w="19050">
            <a:solidFill>
              <a:srgbClr val="1971C2"/>
            </a:solidFill>
            <a:extLst>
              <a:ext uri="{C807C97D-BFC1-408E-A445-0C87EB9F89A2}">
                <ns6:lineSketchStyleProps xmlns:ns6="http://schemas.microsoft.com/office/drawing/2018/sketchyshapes" sd="1799397218">
                  <ns6:type>
                    <ns6:lineSketchFreehand/>
                  </ns6:type>
                </ns6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71846" y="1398778"/>
            <a:ext cx="112654" cy="603504"/>
          </a:xfrm>
          <a:prstGeom prst="roundRect">
            <a:avLst>
              <a:gd name="adj" fmla="val 2000"/>
            </a:avLst>
          </a:prstGeom>
          <a:solidFill>
            <a:srgbClr val="F5F2EC"/>
          </a:solidFill>
          <a:ln w="19050">
            <a:solidFill>
              <a:srgbClr val="1E1E1E"/>
            </a:solidFill>
            <a:extLst>
              <a:ext uri="{C807C97D-BFC1-408E-A445-0C87EB9F89A2}">
                <ns7:lineSketchStyleProps xmlns:ns7="http://schemas.microsoft.com/office/drawing/2018/sketchyshapes" sd="1799405137">
                  <ns7:type>
                    <ns7:lineSketchFreehand/>
                  </ns7:type>
                </ns7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84500" y="1398778"/>
            <a:ext cx="732251" cy="603504"/>
          </a:xfrm>
          <a:prstGeom prst="roundRect">
            <a:avLst>
              <a:gd name="adj" fmla="val 2000"/>
            </a:avLst>
          </a:prstGeom>
          <a:solidFill>
            <a:srgbClr val="FFEC99"/>
          </a:solidFill>
          <a:ln w="19050">
            <a:solidFill>
              <a:srgbClr val="F08C00"/>
            </a:solidFill>
            <a:extLst>
              <a:ext uri="{C807C97D-BFC1-408E-A445-0C87EB9F89A2}">
                <ns8:lineSketchStyleProps xmlns:ns8="http://schemas.microsoft.com/office/drawing/2018/sketchyshapes" sd="1799413056">
                  <ns8:type>
                    <ns8:lineSketchFreehand/>
                  </ns8:type>
                </ns8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1000" b="1">
                <a:solidFill>
                  <a:srgbClr val="1E1E1E"/>
                </a:solidFill>
                <a:latin typeface="Architects Daughter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112010"/>
            <a:ext cx="5632704" cy="10327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2F9E44"/>
                </a:solidFill>
                <a:latin typeface="Architects Daughter"/>
              </a:rPr>
              <a:t>jitter 60 ms</a:t>
            </a:r>
            <a:r>
              <a:rPr sz="850" b="0">
                <a:solidFill>
                  <a:srgbClr val="5C5650"/>
                </a:solidFill>
                <a:latin typeface="Architects Daughter"/>
              </a:rPr>
              <a:t>  ·  </a:t>
            </a:r>
            <a:r>
              <a:rPr sz="850" b="1">
                <a:solidFill>
                  <a:srgbClr val="1971C2"/>
                </a:solidFill>
                <a:latin typeface="Architects Daughter"/>
              </a:rPr>
              <a:t>window fill 100 ms</a:t>
            </a:r>
            <a:r>
              <a:rPr sz="850" b="0">
                <a:solidFill>
                  <a:srgbClr val="5C5650"/>
                </a:solidFill>
                <a:latin typeface="Architects Daughter"/>
              </a:rPr>
              <a:t>  ·  </a:t>
            </a:r>
            <a:r>
              <a:rPr sz="850" b="1">
                <a:solidFill>
                  <a:srgbClr val="9C36B5"/>
                </a:solidFill>
                <a:latin typeface="Architects Daughter"/>
              </a:rPr>
              <a:t>inference 200 ms</a:t>
            </a:r>
            <a:r>
              <a:rPr sz="850" b="0">
                <a:solidFill>
                  <a:srgbClr val="5C5650"/>
                </a:solidFill>
                <a:latin typeface="Architects Daughter"/>
              </a:rPr>
              <a:t>  ·  </a:t>
            </a:r>
            <a:r>
              <a:rPr sz="850" b="1">
                <a:solidFill>
                  <a:srgbClr val="F08C00"/>
                </a:solidFill>
                <a:latin typeface="Architects Daughter"/>
              </a:rPr>
              <a:t>slack 65 ms</a:t>
            </a:r>
          </a:p>
          <a:p>
            <a:pPr>
              <a:spcBef>
                <a:spcPts val="200"/>
              </a:spcBef>
            </a:pPr>
            <a:r>
              <a:rPr sz="850" b="0">
                <a:solidFill>
                  <a:srgbClr val="1E1E1E"/>
                </a:solidFill>
                <a:latin typeface="Architects Daughter"/>
              </a:rPr>
              <a:t>Inference is 46% of the entire budget — so jitter-buffer depth is my single biggest lever before I must start dropping windows.</a:t>
            </a:r>
          </a:p>
          <a:p>
            <a:pPr>
              <a:spcBef>
                <a:spcPts val="200"/>
              </a:spcBef>
            </a:pPr>
            <a:r>
              <a:rPr sz="850" b="0">
                <a:solidFill>
                  <a:srgbClr val="5C5650"/>
                </a:solidFill>
                <a:latin typeface="Architects Daughter"/>
              </a:rPr>
              <a:t>Every stage is measured separately. One end-to-end number cannot tell you which of the four of us regressed, and each of us will assume it was one of the other three.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E03131"/>
                </a:solidFill>
                <a:latin typeface="Architects Daughter"/>
              </a:rPr>
              <a:t>Time-to-first-score is ~2.4 s, not 500 ms — a full 2 s window must exist before anything can be scored.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3309366"/>
            <a:ext cx="5632704" cy="1083563"/>
          </a:xfrm>
          <a:prstGeom prst="roundRect">
            <a:avLst>
              <a:gd name="adj" fmla="val 5000"/>
            </a:avLst>
          </a:prstGeom>
          <a:solidFill>
            <a:srgbClr val="EEFBF1"/>
          </a:solidFill>
          <a:ln w="25400">
            <a:solidFill>
              <a:srgbClr val="2F9E44"/>
            </a:solidFill>
            <a:extLst>
              <a:ext uri="{C807C97D-BFC1-408E-A445-0C87EB9F89A2}">
                <ns9:lineSketchStyleProps xmlns:ns9="http://schemas.microsoft.com/office/drawing/2018/sketchyshapes" sd="1799420975">
                  <ns9:type>
                    <ns9:lineSketchFreehand/>
                  </ns9:type>
                </ns9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00" b="1">
                <a:solidFill>
                  <a:srgbClr val="2F9E44"/>
                </a:solidFill>
                <a:latin typeface="Architects Daughter"/>
              </a:rPr>
              <a:t>OPERATING-POINT TARGETS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   reported by name, not as an abstract EER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E1E1E"/>
                </a:solidFill>
                <a:latin typeface="Architects Daughter"/>
              </a:rPr>
              <a:t>FAR &lt; 1.5%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  synthetic voices that get through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E1E1E"/>
                </a:solidFill>
                <a:latin typeface="Architects Daughter"/>
              </a:rPr>
              <a:t>FRR &lt; 3.0%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  genuine callers wrongly flagged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E1E1E"/>
                </a:solidFill>
                <a:latin typeface="Architects Daughter"/>
              </a:rPr>
              <a:t>RTF &lt;= 0.1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  1 s of audio processed in &lt;= 100 ms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E1E1E"/>
                </a:solidFill>
                <a:latin typeface="Architects Daughter"/>
              </a:rPr>
              <a:t>E2E &lt; 500 ms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  conversational turn-taking budget</a:t>
            </a:r>
          </a:p>
          <a:p>
            <a:pPr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Fusion model measures FAR 0.55% / FRR 0.55% in-domain — inside target, not yet validated out-of-domain.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142746"/>
            <a:ext cx="5486400" cy="3030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E1E1E"/>
                </a:solidFill>
                <a:latin typeface="Architects Daughter"/>
              </a:rPr>
              <a:t>DEGRADATION LADDER</a:t>
            </a:r>
            <a:r>
              <a:rPr sz="850" b="0">
                <a:solidFill>
                  <a:srgbClr val="5C5650"/>
                </a:solidFill>
                <a:latin typeface="Architects Daughter"/>
              </a:rPr>
              <a:t>   hysteretic: exit only after 10 s of health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398778"/>
            <a:ext cx="5486400" cy="295148"/>
          </a:xfrm>
          <a:prstGeom prst="roundRect">
            <a:avLst>
              <a:gd name="adj" fmla="val 14000"/>
            </a:avLst>
          </a:prstGeom>
          <a:solidFill>
            <a:srgbClr val="B2F2BB"/>
          </a:solidFill>
          <a:ln w="28575">
            <a:solidFill>
              <a:srgbClr val="2F9E44"/>
            </a:solidFill>
            <a:extLst>
              <a:ext uri="{C807C97D-BFC1-408E-A445-0C87EB9F89A2}">
                <ns10:lineSketchStyleProps xmlns:ns10="http://schemas.microsoft.com/office/drawing/2018/sketchyshapes" sd="1799428894">
                  <ns10:type>
                    <ns10:lineSketchFreehand/>
                  </ns10:type>
                </ns10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900" b="1">
                <a:solidFill>
                  <a:srgbClr val="2F9E44"/>
                </a:solidFill>
                <a:latin typeface="Architects Daughter"/>
              </a:rPr>
              <a:t>L0  NORMAL    </a:t>
            </a:r>
            <a:r>
              <a:rPr sz="850" b="0">
                <a:solidFill>
                  <a:srgbClr val="1E1E1E"/>
                </a:solidFill>
                <a:latin typeface="Architects Daughter"/>
              </a:rPr>
              <a:t>2 s window / 100 ms hop · full cadence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803654"/>
            <a:ext cx="5486400" cy="295148"/>
          </a:xfrm>
          <a:prstGeom prst="roundRect">
            <a:avLst>
              <a:gd name="adj" fmla="val 14000"/>
            </a:avLst>
          </a:prstGeom>
          <a:solidFill>
            <a:srgbClr val="EEFBF1"/>
          </a:solidFill>
          <a:ln w="28575">
            <a:solidFill>
              <a:srgbClr val="2F9E44"/>
            </a:solidFill>
            <a:extLst>
              <a:ext uri="{C807C97D-BFC1-408E-A445-0C87EB9F89A2}">
                <ns11:lineSketchStyleProps xmlns:ns11="http://schemas.microsoft.com/office/drawing/2018/sketchyshapes" sd="1799436813">
                  <ns11:type>
                    <ns11:lineSketchFreehand/>
                  </ns11:type>
                </ns11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900" b="1">
                <a:solidFill>
                  <a:srgbClr val="2F9E44"/>
                </a:solidFill>
                <a:latin typeface="Architects Daughter"/>
              </a:rPr>
              <a:t>L1  ELEVATED    </a:t>
            </a:r>
            <a:r>
              <a:rPr sz="850" b="0">
                <a:solidFill>
                  <a:srgbClr val="1E1E1E"/>
                </a:solidFill>
                <a:latin typeface="Architects Daughter"/>
              </a:rPr>
              <a:t>queue &gt; 2 windows -&gt; hop widens to 200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208530"/>
            <a:ext cx="5486400" cy="295148"/>
          </a:xfrm>
          <a:prstGeom prst="roundRect">
            <a:avLst>
              <a:gd name="adj" fmla="val 14000"/>
            </a:avLst>
          </a:prstGeom>
          <a:solidFill>
            <a:srgbClr val="FFEC99"/>
          </a:solidFill>
          <a:ln w="28575">
            <a:solidFill>
              <a:srgbClr val="F08C00"/>
            </a:solidFill>
            <a:extLst>
              <a:ext uri="{C807C97D-BFC1-408E-A445-0C87EB9F89A2}">
                <ns12:lineSketchStyleProps xmlns:ns12="http://schemas.microsoft.com/office/drawing/2018/sketchyshapes" sd="1799444732">
                  <ns12:type>
                    <ns12:lineSketchFreehand/>
                  </ns12:type>
                </ns12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900" b="1">
                <a:solidFill>
                  <a:srgbClr val="F08C00"/>
                </a:solidFill>
                <a:latin typeface="Architects Daughter"/>
              </a:rPr>
              <a:t>L2  DEGRADED    </a:t>
            </a:r>
            <a:r>
              <a:rPr sz="850" b="0">
                <a:solidFill>
                  <a:srgbClr val="1E1E1E"/>
                </a:solidFill>
                <a:latin typeface="Architects Daughter"/>
              </a:rPr>
              <a:t>ring dropping -&gt; hop 500 ms, drop oldest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13406"/>
            <a:ext cx="5486400" cy="295148"/>
          </a:xfrm>
          <a:prstGeom prst="roundRect">
            <a:avLst>
              <a:gd name="adj" fmla="val 14000"/>
            </a:avLst>
          </a:prstGeom>
          <a:solidFill>
            <a:srgbClr val="FFC9C9"/>
          </a:solidFill>
          <a:ln w="28575">
            <a:solidFill>
              <a:srgbClr val="E03131"/>
            </a:solidFill>
            <a:extLst>
              <a:ext uri="{C807C97D-BFC1-408E-A445-0C87EB9F89A2}">
                <ns13:lineSketchStyleProps xmlns:ns13="http://schemas.microsoft.com/office/drawing/2018/sketchyshapes" sd="1799452651">
                  <ns13:type>
                    <ns13:lineSketchFreehand/>
                  </ns13:type>
                </ns13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900" b="1">
                <a:solidFill>
                  <a:srgbClr val="E03131"/>
                </a:solidFill>
                <a:latin typeface="Architects Daughter"/>
              </a:rPr>
              <a:t>L3  DETECTOR DOWN    </a:t>
            </a:r>
            <a:r>
              <a:rPr sz="850" b="0">
                <a:solidFill>
                  <a:srgbClr val="1E1E1E"/>
                </a:solidFill>
                <a:latin typeface="Architects Daughter"/>
              </a:rPr>
              <a:t>gRPC gone &gt; 5 s -&gt; scoring stops, call lives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018282"/>
            <a:ext cx="5486400" cy="295148"/>
          </a:xfrm>
          <a:prstGeom prst="roundRect">
            <a:avLst>
              <a:gd name="adj" fmla="val 14000"/>
            </a:avLst>
          </a:prstGeom>
          <a:solidFill>
            <a:srgbClr val="FFF0EF"/>
          </a:solidFill>
          <a:ln w="28575">
            <a:solidFill>
              <a:srgbClr val="E03131"/>
            </a:solidFill>
            <a:extLst>
              <a:ext uri="{C807C97D-BFC1-408E-A445-0C87EB9F89A2}">
                <ns14:lineSketchStyleProps xmlns:ns14="http://schemas.microsoft.com/office/drawing/2018/sketchyshapes" sd="1799460570">
                  <ns14:type>
                    <ns14:lineSketchFreehand/>
                  </ns14:type>
                </ns14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900" b="1">
                <a:solidFill>
                  <a:srgbClr val="E03131"/>
                </a:solidFill>
                <a:latin typeface="Architects Daughter"/>
              </a:rPr>
              <a:t>L4  SHEDDING    </a:t>
            </a:r>
            <a:r>
              <a:rPr sz="850" b="0">
                <a:solidFill>
                  <a:srgbClr val="1E1E1E"/>
                </a:solidFill>
                <a:latin typeface="Architects Daughter"/>
              </a:rPr>
              <a:t>node at capacity -&gt; reject NEW sessions only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496310"/>
            <a:ext cx="5486400" cy="572516"/>
          </a:xfrm>
          <a:prstGeom prst="roundRect">
            <a:avLst>
              <a:gd name="adj" fmla="val 5000"/>
            </a:avLst>
          </a:prstGeom>
          <a:solidFill>
            <a:srgbClr val="FFF0EF"/>
          </a:solidFill>
          <a:ln w="28575">
            <a:solidFill>
              <a:srgbClr val="E03131"/>
            </a:solidFill>
            <a:extLst>
              <a:ext uri="{C807C97D-BFC1-408E-A445-0C87EB9F89A2}">
                <ns15:lineSketchStyleProps xmlns:ns15="http://schemas.microsoft.com/office/drawing/2018/sketchyshapes" sd="1799468489">
                  <ns15:type>
                    <ns15:lineSketchFreehand/>
                  </ns15:type>
                </ns15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 tIns="64008" bIns="64008"/>
          <a:lstStyle/>
          <a:p>
            <a:pPr algn="ctr"/>
            <a:r>
              <a:rPr sz="900" b="1">
                <a:solidFill>
                  <a:srgbClr val="E03131"/>
                </a:solidFill>
                <a:latin typeface="Architects Daughter"/>
              </a:rPr>
              <a:t>GOVERNING RULE</a:t>
            </a:r>
            <a:r>
              <a:rPr sz="900" b="0">
                <a:solidFill>
                  <a:srgbClr val="1E1E1E"/>
                </a:solidFill>
                <a:latin typeface="Architects Daughter"/>
              </a:rPr>
              <a:t>   absence of a score is never equivalent to a low score.</a:t>
            </a:r>
          </a:p>
          <a:p>
            <a:pPr>
              <a:spcBef>
                <a:spcPts val="200"/>
              </a:spcBef>
            </a:pPr>
            <a:r>
              <a:rPr sz="800" b="0">
                <a:solidFill>
                  <a:srgbClr val="5C5650"/>
                </a:solidFill>
                <a:latin typeface="Architects Daughter"/>
              </a:rPr>
              <a:t>Reporting “genuine” when the pipeline is broken is the one failure mode that actively causes harm — it green-lights the fraud we exist to stop.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4612386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03131"/>
                </a:solidFill>
                <a:latin typeface="Architects Daughter"/>
              </a:rPr>
              <a:t>THE THREE THAT FAIL SILENTLY</a:t>
            </a:r>
            <a:r>
              <a:rPr sz="950" b="0">
                <a:solidFill>
                  <a:srgbClr val="5C5650"/>
                </a:solidFill>
                <a:latin typeface="Architects Daughter"/>
              </a:rPr>
              <a:t>   — no exception, no error, just quietly wrong output. 71 edge cases catalogued in total.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" y="4868418"/>
            <a:ext cx="3712463" cy="1451864"/>
          </a:xfrm>
          <a:prstGeom prst="roundRect">
            <a:avLst>
              <a:gd name="adj" fmla="val 5000"/>
            </a:avLst>
          </a:prstGeom>
          <a:solidFill>
            <a:srgbClr val="FFF0EF"/>
          </a:solidFill>
          <a:ln w="28575">
            <a:solidFill>
              <a:srgbClr val="E03131"/>
            </a:solidFill>
            <a:extLst>
              <a:ext uri="{C807C97D-BFC1-408E-A445-0C87EB9F89A2}">
                <ns16:lineSketchStyleProps xmlns:ns16="http://schemas.microsoft.com/office/drawing/2018/sketchyshapes" sd="1799476408">
                  <ns16:type>
                    <ns16:lineSketchFreehand/>
                  </ns16:type>
                </ns16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00" b="1">
                <a:solidFill>
                  <a:srgbClr val="E03131"/>
                </a:solidFill>
                <a:latin typeface="Architects Daughter"/>
              </a:rPr>
              <a:t>AU-04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   AUDIO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E1E1E"/>
                </a:solidFill>
                <a:latin typeface="Architects Daughter"/>
              </a:rPr>
              <a:t>Averaging a dual-leg fork</a:t>
            </a:r>
          </a:p>
          <a:p>
            <a:pPr>
              <a:spcBef>
                <a:spcPts val="200"/>
              </a:spcBef>
            </a:pPr>
            <a:r>
              <a:rPr sz="800" b="0">
                <a:solidFill>
                  <a:srgbClr val="1E1E1E"/>
                </a:solidFill>
                <a:latin typeface="Architects Daughter"/>
              </a:rPr>
              <a:t>The gateway forks caller and callee as two channels. Averaging them mixes two speakers into one signal, destroying both the deepfake and the speaker-verification signal.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E03131"/>
                </a:solidFill>
                <a:latin typeface="Architects Daughter"/>
              </a:rPr>
              <a:t>FIX  mono mandatory. Two legs arrive as two sessions sharing a call_id. Never average.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COST IF MISSED  every score on every dual-leg call is meaningless, and nothing reports an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2816" y="4868418"/>
            <a:ext cx="3712463" cy="1451864"/>
          </a:xfrm>
          <a:prstGeom prst="roundRect">
            <a:avLst>
              <a:gd name="adj" fmla="val 5000"/>
            </a:avLst>
          </a:prstGeom>
          <a:solidFill>
            <a:srgbClr val="FFF0EF"/>
          </a:solidFill>
          <a:ln w="28575">
            <a:solidFill>
              <a:srgbClr val="E03131"/>
            </a:solidFill>
            <a:extLst>
              <a:ext uri="{C807C97D-BFC1-408E-A445-0C87EB9F89A2}">
                <ns17:lineSketchStyleProps xmlns:ns17="http://schemas.microsoft.com/office/drawing/2018/sketchyshapes" sd="1799484327">
                  <ns17:type>
                    <ns17:lineSketchFreehand/>
                  </ns17:type>
                </ns17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00" b="1">
                <a:solidFill>
                  <a:srgbClr val="E03131"/>
                </a:solidFill>
                <a:latin typeface="Architects Daughter"/>
              </a:rPr>
              <a:t>AU-08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   AUDIO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E1E1E"/>
                </a:solidFill>
                <a:latin typeface="Architects Daughter"/>
              </a:rPr>
              <a:t>Packet-loss concealment</a:t>
            </a:r>
          </a:p>
          <a:p>
            <a:pPr>
              <a:spcBef>
                <a:spcPts val="200"/>
              </a:spcBef>
            </a:pPr>
            <a:r>
              <a:rPr sz="800" b="0">
                <a:solidFill>
                  <a:srgbClr val="1E1E1E"/>
                </a:solidFill>
                <a:latin typeface="Architects Daughter"/>
              </a:rPr>
              <a:t>On a bad line the gateway invents audio to cover lost packets. That audio is literally synthetic — so the detector flags a genuine caller as a deepfake.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E03131"/>
                </a:solidFill>
                <a:latin typeface="Architects Daughter"/>
              </a:rPr>
              <a:t>FIX  gateway sets concealed=true; windows over ~15% concealed samples are skipped or down-weighted.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COST IF MISSED  genuine customers on poor lines get accused of fraud. This is what gets the system switched off.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01583" y="4868418"/>
            <a:ext cx="3712463" cy="1451864"/>
          </a:xfrm>
          <a:prstGeom prst="roundRect">
            <a:avLst>
              <a:gd name="adj" fmla="val 5000"/>
            </a:avLst>
          </a:prstGeom>
          <a:solidFill>
            <a:srgbClr val="FFF0EF"/>
          </a:solidFill>
          <a:ln w="28575">
            <a:solidFill>
              <a:srgbClr val="E03131"/>
            </a:solidFill>
            <a:extLst>
              <a:ext uri="{C807C97D-BFC1-408E-A445-0C87EB9F89A2}">
                <ns18:lineSketchStyleProps xmlns:ns18="http://schemas.microsoft.com/office/drawing/2018/sketchyshapes" sd="1799492246">
                  <ns18:type>
                    <ns18:lineSketchFreehand/>
                  </ns18:type>
                </ns18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64008" bIns="64008"/>
          <a:lstStyle/>
          <a:p>
            <a:pPr algn="ctr"/>
            <a:r>
              <a:rPr sz="900" b="1">
                <a:solidFill>
                  <a:srgbClr val="E03131"/>
                </a:solidFill>
                <a:latin typeface="Architects Daughter"/>
              </a:rPr>
              <a:t>SS-06</a:t>
            </a:r>
            <a:r>
              <a:rPr sz="800" b="0">
                <a:solidFill>
                  <a:srgbClr val="5C5650"/>
                </a:solidFill>
                <a:latin typeface="Architects Daughter"/>
              </a:rPr>
              <a:t>   SESSION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E1E1E"/>
                </a:solidFill>
                <a:latin typeface="Architects Daughter"/>
              </a:rPr>
              <a:t>Missing speaker enrolment</a:t>
            </a:r>
          </a:p>
          <a:p>
            <a:pPr>
              <a:spcBef>
                <a:spcPts val="200"/>
              </a:spcBef>
            </a:pPr>
            <a:r>
              <a:rPr sz="800" b="0">
                <a:solidFill>
                  <a:srgbClr val="1E1E1E"/>
                </a:solidFill>
                <a:latin typeface="Architects Daughter"/>
              </a:rPr>
              <a:t>No reference voiceprint makes similarity return 0.0, which fusion reads as 'total mismatch' — fabricating fraud signal for every caller who never enrolled.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E03131"/>
                </a:solidFill>
                <a:latin typeface="Architects Daughter"/>
              </a:rPr>
              <a:t>FIX  emit null plus speaker_signal=UNAVAILABLE. The risk engine renormalises over remaining signals.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E1E1E"/>
                </a:solidFill>
                <a:latin typeface="Architects Daughter"/>
              </a:rPr>
              <a:t>COST IF MISSED  every first-time caller looks like an impostor — false accusations at the worst moment.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